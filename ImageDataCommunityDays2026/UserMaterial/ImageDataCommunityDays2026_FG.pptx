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13" roundtripDataSignature="AMtx7miEpOFI1pYr0DWpRGv2B/s1jccj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customschemas.google.com/relationships/presentationmetadata" Target="meta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5" name="Shape 15"/>
        <p:cNvGrpSpPr/>
        <p:nvPr/>
      </p:nvGrpSpPr>
      <p:grpSpPr>
        <a:xfrm>
          <a:off x="0" y="0"/>
          <a:ext cx="0" cy="0"/>
          <a:chOff x="0" y="0"/>
          <a:chExt cx="0" cy="0"/>
        </a:xfrm>
      </p:grpSpPr>
      <p:sp>
        <p:nvSpPr>
          <p:cNvPr id="16" name="Google Shape;16;p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21" name="Shape 21"/>
        <p:cNvGrpSpPr/>
        <p:nvPr/>
      </p:nvGrpSpPr>
      <p:grpSpPr>
        <a:xfrm>
          <a:off x="0" y="0"/>
          <a:ext cx="0" cy="0"/>
          <a:chOff x="0" y="0"/>
          <a:chExt cx="0" cy="0"/>
        </a:xfrm>
      </p:grpSpPr>
      <p:sp>
        <p:nvSpPr>
          <p:cNvPr id="22" name="Google Shape;2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5" name="Shape 25"/>
        <p:cNvGrpSpPr/>
        <p:nvPr/>
      </p:nvGrpSpPr>
      <p:grpSpPr>
        <a:xfrm>
          <a:off x="0" y="0"/>
          <a:ext cx="0" cy="0"/>
          <a:chOff x="0" y="0"/>
          <a:chExt cx="0" cy="0"/>
        </a:xfrm>
      </p:grpSpPr>
      <p:sp>
        <p:nvSpPr>
          <p:cNvPr id="26" name="Google Shape;2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31" name="Shape 31"/>
        <p:cNvGrpSpPr/>
        <p:nvPr/>
      </p:nvGrpSpPr>
      <p:grpSpPr>
        <a:xfrm>
          <a:off x="0" y="0"/>
          <a:ext cx="0" cy="0"/>
          <a:chOff x="0" y="0"/>
          <a:chExt cx="0" cy="0"/>
        </a:xfrm>
      </p:grpSpPr>
      <p:sp>
        <p:nvSpPr>
          <p:cNvPr id="32" name="Google Shape;32;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37" name="Shape 37"/>
        <p:cNvGrpSpPr/>
        <p:nvPr/>
      </p:nvGrpSpPr>
      <p:grpSpPr>
        <a:xfrm>
          <a:off x="0" y="0"/>
          <a:ext cx="0" cy="0"/>
          <a:chOff x="0" y="0"/>
          <a:chExt cx="0" cy="0"/>
        </a:xfrm>
      </p:grpSpPr>
      <p:sp>
        <p:nvSpPr>
          <p:cNvPr id="38" name="Google Shape;3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4" name="Shape 44"/>
        <p:cNvGrpSpPr/>
        <p:nvPr/>
      </p:nvGrpSpPr>
      <p:grpSpPr>
        <a:xfrm>
          <a:off x="0" y="0"/>
          <a:ext cx="0" cy="0"/>
          <a:chOff x="0" y="0"/>
          <a:chExt cx="0" cy="0"/>
        </a:xfrm>
      </p:grpSpPr>
      <p:sp>
        <p:nvSpPr>
          <p:cNvPr id="45" name="Google Shape;45;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53" name="Shape 53"/>
        <p:cNvGrpSpPr/>
        <p:nvPr/>
      </p:nvGrpSpPr>
      <p:grpSpPr>
        <a:xfrm>
          <a:off x="0" y="0"/>
          <a:ext cx="0" cy="0"/>
          <a:chOff x="0" y="0"/>
          <a:chExt cx="0" cy="0"/>
        </a:xfrm>
      </p:grpSpPr>
      <p:sp>
        <p:nvSpPr>
          <p:cNvPr id="54" name="Google Shape;54;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8" name="Shape 58"/>
        <p:cNvGrpSpPr/>
        <p:nvPr/>
      </p:nvGrpSpPr>
      <p:grpSpPr>
        <a:xfrm>
          <a:off x="0" y="0"/>
          <a:ext cx="0" cy="0"/>
          <a:chOff x="0" y="0"/>
          <a:chExt cx="0" cy="0"/>
        </a:xfrm>
      </p:grpSpPr>
      <p:sp>
        <p:nvSpPr>
          <p:cNvPr id="59" name="Google Shape;59;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5" name="Shape 65"/>
        <p:cNvGrpSpPr/>
        <p:nvPr/>
      </p:nvGrpSpPr>
      <p:grpSpPr>
        <a:xfrm>
          <a:off x="0" y="0"/>
          <a:ext cx="0" cy="0"/>
          <a:chOff x="0" y="0"/>
          <a:chExt cx="0" cy="0"/>
        </a:xfrm>
      </p:grpSpPr>
      <p:sp>
        <p:nvSpPr>
          <p:cNvPr id="66" name="Google Shape;6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p:nvPr>
            <p:ph idx="2" type="pic"/>
          </p:nvPr>
        </p:nvSpPr>
        <p:spPr>
          <a:xfrm>
            <a:off x="5183188" y="987425"/>
            <a:ext cx="6172200" cy="4873625"/>
          </a:xfrm>
          <a:prstGeom prst="rect">
            <a:avLst/>
          </a:prstGeom>
          <a:noFill/>
          <a:ln>
            <a:noFill/>
          </a:ln>
        </p:spPr>
      </p:sp>
      <p:sp>
        <p:nvSpPr>
          <p:cNvPr id="68" name="Google Shape;68;p1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72" name="Shape 72"/>
        <p:cNvGrpSpPr/>
        <p:nvPr/>
      </p:nvGrpSpPr>
      <p:grpSpPr>
        <a:xfrm>
          <a:off x="0" y="0"/>
          <a:ext cx="0" cy="0"/>
          <a:chOff x="0" y="0"/>
          <a:chExt cx="0" cy="0"/>
        </a:xfrm>
      </p:grpSpPr>
      <p:sp>
        <p:nvSpPr>
          <p:cNvPr id="73" name="Google Shape;7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8" name="Shape 78"/>
        <p:cNvGrpSpPr/>
        <p:nvPr/>
      </p:nvGrpSpPr>
      <p:grpSpPr>
        <a:xfrm>
          <a:off x="0" y="0"/>
          <a:ext cx="0" cy="0"/>
          <a:chOff x="0" y="0"/>
          <a:chExt cx="0" cy="0"/>
        </a:xfrm>
      </p:grpSpPr>
      <p:sp>
        <p:nvSpPr>
          <p:cNvPr id="79" name="Google Shape;79;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github.com/cim-unito/XNAT-PIC" TargetMode="External"/><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hyperlink" Target="https://eubi-xnat.hpc4ai.unito.it/" TargetMode="External"/><Relationship Id="rId6" Type="http://schemas.openxmlformats.org/officeDocument/2006/relationships/image" Target="../media/image13.png"/><Relationship Id="rId7"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hyperlink" Target="https://eubi-xnat.hpc4ai.unito.it/" TargetMode="External"/><Relationship Id="rId6" Type="http://schemas.openxmlformats.org/officeDocument/2006/relationships/image" Target="../media/image13.png"/><Relationship Id="rId7"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cxnSp>
        <p:nvCxnSpPr>
          <p:cNvPr id="89" name="Google Shape;89;p1"/>
          <p:cNvCxnSpPr/>
          <p:nvPr/>
        </p:nvCxnSpPr>
        <p:spPr>
          <a:xfrm flipH="1">
            <a:off x="329619" y="705529"/>
            <a:ext cx="7198232" cy="16185"/>
          </a:xfrm>
          <a:prstGeom prst="straightConnector1">
            <a:avLst/>
          </a:prstGeom>
          <a:noFill/>
          <a:ln cap="flat" cmpd="sng" w="28575">
            <a:solidFill>
              <a:srgbClr val="172946"/>
            </a:solidFill>
            <a:prstDash val="solid"/>
            <a:miter lim="800000"/>
            <a:headEnd len="sm" w="sm" type="none"/>
            <a:tailEnd len="med" w="med" type="none"/>
          </a:ln>
        </p:spPr>
      </p:cxnSp>
      <p:pic>
        <p:nvPicPr>
          <p:cNvPr descr="Outreach - Euro-BioImaging" id="90" name="Google Shape;90;p1"/>
          <p:cNvPicPr preferRelativeResize="0"/>
          <p:nvPr/>
        </p:nvPicPr>
        <p:blipFill rotWithShape="1">
          <a:blip r:embed="rId3">
            <a:alphaModFix/>
          </a:blip>
          <a:srcRect b="0" l="0" r="0" t="0"/>
          <a:stretch/>
        </p:blipFill>
        <p:spPr>
          <a:xfrm>
            <a:off x="9316454" y="173023"/>
            <a:ext cx="2743198" cy="957376"/>
          </a:xfrm>
          <a:prstGeom prst="rect">
            <a:avLst/>
          </a:prstGeom>
          <a:noFill/>
          <a:ln>
            <a:noFill/>
          </a:ln>
        </p:spPr>
      </p:pic>
      <p:pic>
        <p:nvPicPr>
          <p:cNvPr descr="File:Consiglio Nazionale delle Ricerche logo verticale.png - Wikipedia" id="91" name="Google Shape;91;p1"/>
          <p:cNvPicPr preferRelativeResize="0"/>
          <p:nvPr/>
        </p:nvPicPr>
        <p:blipFill rotWithShape="1">
          <a:blip r:embed="rId4">
            <a:alphaModFix/>
          </a:blip>
          <a:srcRect b="0" l="0" r="0" t="0"/>
          <a:stretch/>
        </p:blipFill>
        <p:spPr>
          <a:xfrm>
            <a:off x="10454171" y="5540163"/>
            <a:ext cx="1448720" cy="1024121"/>
          </a:xfrm>
          <a:prstGeom prst="rect">
            <a:avLst/>
          </a:prstGeom>
          <a:noFill/>
          <a:ln>
            <a:noFill/>
          </a:ln>
        </p:spPr>
      </p:pic>
      <p:sp>
        <p:nvSpPr>
          <p:cNvPr id="92" name="Google Shape;92;p1"/>
          <p:cNvSpPr txBox="1"/>
          <p:nvPr/>
        </p:nvSpPr>
        <p:spPr>
          <a:xfrm>
            <a:off x="1346523" y="1951585"/>
            <a:ext cx="9694370" cy="2231252"/>
          </a:xfrm>
          <a:prstGeom prst="rect">
            <a:avLst/>
          </a:prstGeom>
          <a:noFill/>
          <a:ln>
            <a:noFill/>
          </a:ln>
        </p:spPr>
        <p:txBody>
          <a:bodyPr anchorCtr="0" anchor="b" bIns="0" lIns="0" spcFirstLastPara="1" rIns="0" wrap="square" tIns="12700">
            <a:spAutoFit/>
          </a:bodyPr>
          <a:lstStyle/>
          <a:p>
            <a:pPr indent="0" lvl="0" marL="0" marR="0" rtl="0" algn="ctr">
              <a:lnSpc>
                <a:spcPct val="90000"/>
              </a:lnSpc>
              <a:spcBef>
                <a:spcPts val="0"/>
              </a:spcBef>
              <a:spcAft>
                <a:spcPts val="0"/>
              </a:spcAft>
              <a:buClr>
                <a:srgbClr val="172946"/>
              </a:buClr>
              <a:buSzPts val="4800"/>
              <a:buFont typeface="Calibri"/>
              <a:buNone/>
            </a:pPr>
            <a:r>
              <a:rPr b="1" i="0" lang="it-IT" sz="4800" u="none" cap="none" strike="noStrike">
                <a:solidFill>
                  <a:srgbClr val="172946"/>
                </a:solidFill>
                <a:latin typeface="Calibri"/>
                <a:ea typeface="Calibri"/>
                <a:cs typeface="Calibri"/>
                <a:sym typeface="Calibri"/>
              </a:rPr>
              <a:t>XNAT-PIC: </a:t>
            </a:r>
            <a:endParaRPr b="1" i="0" sz="60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172946"/>
              </a:buClr>
              <a:buSzPts val="4800"/>
              <a:buFont typeface="Calibri"/>
              <a:buNone/>
            </a:pPr>
            <a:r>
              <a:rPr b="1" i="0" lang="it-IT" sz="4800" u="none" cap="none" strike="noStrike">
                <a:solidFill>
                  <a:srgbClr val="172946"/>
                </a:solidFill>
                <a:latin typeface="Calibri"/>
                <a:ea typeface="Calibri"/>
                <a:cs typeface="Calibri"/>
                <a:sym typeface="Calibri"/>
              </a:rPr>
              <a:t>A Dedicated Tool for Annotating and Uploading Preclinical Images to XNAT</a:t>
            </a:r>
            <a:endParaRPr b="1" i="0" sz="6000" u="none" cap="none" strike="noStrike">
              <a:solidFill>
                <a:schemeClr val="dk1"/>
              </a:solidFill>
              <a:latin typeface="Calibri"/>
              <a:ea typeface="Calibri"/>
              <a:cs typeface="Calibri"/>
              <a:sym typeface="Calibri"/>
            </a:endParaRPr>
          </a:p>
          <a:p>
            <a:pPr indent="0" lvl="0" marL="0" marR="0" rtl="0" algn="ctr">
              <a:lnSpc>
                <a:spcPct val="90000"/>
              </a:lnSpc>
              <a:spcBef>
                <a:spcPts val="0"/>
              </a:spcBef>
              <a:spcAft>
                <a:spcPts val="0"/>
              </a:spcAft>
              <a:buClr>
                <a:schemeClr val="dk1"/>
              </a:buClr>
              <a:buSzPts val="1600"/>
              <a:buFont typeface="Calibri"/>
              <a:buNone/>
            </a:pPr>
            <a:r>
              <a:t/>
            </a:r>
            <a:endParaRPr b="0" i="0" sz="1600" u="none" cap="none" strike="noStrike">
              <a:solidFill>
                <a:schemeClr val="dk1"/>
              </a:solidFill>
              <a:latin typeface="Arial"/>
              <a:ea typeface="Arial"/>
              <a:cs typeface="Arial"/>
              <a:sym typeface="Arial"/>
            </a:endParaRPr>
          </a:p>
        </p:txBody>
      </p:sp>
      <p:sp>
        <p:nvSpPr>
          <p:cNvPr id="93" name="Google Shape;93;p1"/>
          <p:cNvSpPr txBox="1"/>
          <p:nvPr/>
        </p:nvSpPr>
        <p:spPr>
          <a:xfrm>
            <a:off x="7752781" y="4105917"/>
            <a:ext cx="3096239" cy="843821"/>
          </a:xfrm>
          <a:prstGeom prst="rect">
            <a:avLst/>
          </a:prstGeom>
          <a:noFill/>
          <a:ln>
            <a:noFill/>
          </a:ln>
        </p:spPr>
        <p:txBody>
          <a:bodyPr anchorCtr="0" anchor="b" bIns="0" lIns="0" spcFirstLastPara="1" rIns="0" wrap="square" tIns="12700">
            <a:spAutoFit/>
          </a:bodyPr>
          <a:lstStyle/>
          <a:p>
            <a:pPr indent="0" lvl="0" marL="0" marR="0" rtl="0" algn="r">
              <a:lnSpc>
                <a:spcPct val="90000"/>
              </a:lnSpc>
              <a:spcBef>
                <a:spcPts val="0"/>
              </a:spcBef>
              <a:spcAft>
                <a:spcPts val="0"/>
              </a:spcAft>
              <a:buClr>
                <a:srgbClr val="172946"/>
              </a:buClr>
              <a:buSzPts val="2400"/>
              <a:buFont typeface="Calibri"/>
              <a:buNone/>
            </a:pPr>
            <a:r>
              <a:rPr b="1" i="0" lang="it-IT" sz="2400" u="none" cap="none" strike="noStrike">
                <a:solidFill>
                  <a:srgbClr val="172946"/>
                </a:solidFill>
                <a:latin typeface="Calibri"/>
                <a:ea typeface="Calibri"/>
                <a:cs typeface="Calibri"/>
                <a:sym typeface="Calibri"/>
              </a:rPr>
              <a:t>Francesco Gammaraccio</a:t>
            </a:r>
            <a:endParaRPr b="1" i="0" sz="2400" u="none" cap="none" strike="noStrike">
              <a:solidFill>
                <a:srgbClr val="172946"/>
              </a:solidFill>
              <a:latin typeface="Calibri"/>
              <a:ea typeface="Calibri"/>
              <a:cs typeface="Calibri"/>
              <a:sym typeface="Calibri"/>
            </a:endParaRPr>
          </a:p>
          <a:p>
            <a:pPr indent="0" lvl="0" marL="0" marR="0" rtl="0" algn="r">
              <a:lnSpc>
                <a:spcPct val="90000"/>
              </a:lnSpc>
              <a:spcBef>
                <a:spcPts val="0"/>
              </a:spcBef>
              <a:spcAft>
                <a:spcPts val="0"/>
              </a:spcAft>
              <a:buClr>
                <a:schemeClr val="dk1"/>
              </a:buClr>
              <a:buSzPts val="2000"/>
              <a:buFont typeface="Calibri"/>
              <a:buNone/>
            </a:pPr>
            <a:r>
              <a:t/>
            </a:r>
            <a:endParaRPr b="0" i="0" sz="2000" u="none" cap="none" strike="noStrike">
              <a:solidFill>
                <a:srgbClr val="172946"/>
              </a:solidFill>
              <a:latin typeface="Calibri"/>
              <a:ea typeface="Calibri"/>
              <a:cs typeface="Calibri"/>
              <a:sym typeface="Calibri"/>
            </a:endParaRPr>
          </a:p>
          <a:p>
            <a:pPr indent="0" lvl="0" marL="0" marR="0" rtl="0" algn="r">
              <a:lnSpc>
                <a:spcPct val="9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pic>
        <p:nvPicPr>
          <p:cNvPr descr="CNR Institute of Biostructures and Bioimaging" id="94" name="Google Shape;94;p1"/>
          <p:cNvPicPr preferRelativeResize="0"/>
          <p:nvPr/>
        </p:nvPicPr>
        <p:blipFill rotWithShape="1">
          <a:blip r:embed="rId5">
            <a:alphaModFix/>
          </a:blip>
          <a:srcRect b="0" l="0" r="0" t="0"/>
          <a:stretch/>
        </p:blipFill>
        <p:spPr>
          <a:xfrm>
            <a:off x="4402746" y="5718221"/>
            <a:ext cx="3577280" cy="6607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cxnSp>
        <p:nvCxnSpPr>
          <p:cNvPr id="100" name="Google Shape;100;p2"/>
          <p:cNvCxnSpPr/>
          <p:nvPr/>
        </p:nvCxnSpPr>
        <p:spPr>
          <a:xfrm flipH="1">
            <a:off x="310164" y="744440"/>
            <a:ext cx="7198232" cy="16185"/>
          </a:xfrm>
          <a:prstGeom prst="straightConnector1">
            <a:avLst/>
          </a:prstGeom>
          <a:noFill/>
          <a:ln cap="flat" cmpd="sng" w="28575">
            <a:solidFill>
              <a:srgbClr val="172946"/>
            </a:solidFill>
            <a:prstDash val="solid"/>
            <a:miter lim="800000"/>
            <a:headEnd len="sm" w="sm" type="none"/>
            <a:tailEnd len="med" w="med" type="none"/>
          </a:ln>
        </p:spPr>
      </p:cxnSp>
      <p:sp>
        <p:nvSpPr>
          <p:cNvPr id="101" name="Google Shape;101;p2"/>
          <p:cNvSpPr txBox="1"/>
          <p:nvPr/>
        </p:nvSpPr>
        <p:spPr>
          <a:xfrm>
            <a:off x="310403" y="94032"/>
            <a:ext cx="77338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it-IT" sz="3600" u="none" cap="none" strike="noStrike">
                <a:solidFill>
                  <a:srgbClr val="172946"/>
                </a:solidFill>
                <a:latin typeface="Calibri"/>
                <a:ea typeface="Calibri"/>
                <a:cs typeface="Calibri"/>
                <a:sym typeface="Calibri"/>
              </a:rPr>
              <a:t>XNAT-PIC</a:t>
            </a:r>
            <a:endParaRPr sz="1800">
              <a:solidFill>
                <a:schemeClr val="dk1"/>
              </a:solidFill>
              <a:latin typeface="Calibri"/>
              <a:ea typeface="Calibri"/>
              <a:cs typeface="Calibri"/>
              <a:sym typeface="Calibri"/>
            </a:endParaRPr>
          </a:p>
        </p:txBody>
      </p:sp>
      <p:pic>
        <p:nvPicPr>
          <p:cNvPr descr="Category: Nodes - Euro-BioImaging" id="102" name="Google Shape;102;p2"/>
          <p:cNvPicPr preferRelativeResize="0"/>
          <p:nvPr/>
        </p:nvPicPr>
        <p:blipFill rotWithShape="1">
          <a:blip r:embed="rId3">
            <a:alphaModFix/>
          </a:blip>
          <a:srcRect b="34559" l="17216" r="17582" t="7763"/>
          <a:stretch/>
        </p:blipFill>
        <p:spPr>
          <a:xfrm>
            <a:off x="10982392" y="93620"/>
            <a:ext cx="1212396" cy="1075776"/>
          </a:xfrm>
          <a:prstGeom prst="rect">
            <a:avLst/>
          </a:prstGeom>
          <a:noFill/>
          <a:ln>
            <a:noFill/>
          </a:ln>
        </p:spPr>
      </p:pic>
      <p:sp>
        <p:nvSpPr>
          <p:cNvPr id="103" name="Google Shape;103;p2"/>
          <p:cNvSpP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0" lang="it-IT" sz="1200" u="none">
                <a:solidFill>
                  <a:srgbClr val="888888"/>
                </a:solidFill>
                <a:latin typeface="Calibri"/>
                <a:ea typeface="Calibri"/>
                <a:cs typeface="Calibri"/>
                <a:sym typeface="Calibri"/>
              </a:rPr>
              <a:t>francesco.gammaraccio@unito.it</a:t>
            </a:r>
            <a:endParaRPr b="0" sz="1200" u="none">
              <a:solidFill>
                <a:srgbClr val="888888"/>
              </a:solidFill>
              <a:latin typeface="Calibri"/>
              <a:ea typeface="Calibri"/>
              <a:cs typeface="Calibri"/>
              <a:sym typeface="Calibri"/>
            </a:endParaRPr>
          </a:p>
        </p:txBody>
      </p:sp>
      <p:sp>
        <p:nvSpPr>
          <p:cNvPr id="104" name="Google Shape;104;p2"/>
          <p:cNvSpPr/>
          <p:nvPr/>
        </p:nvSpPr>
        <p:spPr>
          <a:xfrm>
            <a:off x="313225" y="1175098"/>
            <a:ext cx="10418325"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lang="it-IT" sz="1800" u="none">
                <a:solidFill>
                  <a:schemeClr val="dk1"/>
                </a:solidFill>
                <a:latin typeface="Calibri"/>
                <a:ea typeface="Calibri"/>
                <a:cs typeface="Calibri"/>
                <a:sym typeface="Calibri"/>
              </a:rPr>
              <a:t>XNAT for Preclinical Imaging Centers (XNAT-PIC) is a free and open-source Windows desktop application designed to extend the core functionality of the XNAT platform to meet the needs of preclinical research. </a:t>
            </a:r>
            <a:endParaRPr b="0" sz="1800" u="none">
              <a:solidFill>
                <a:schemeClr val="dk1"/>
              </a:solidFill>
              <a:latin typeface="Calibri"/>
              <a:ea typeface="Calibri"/>
              <a:cs typeface="Calibri"/>
              <a:sym typeface="Calibri"/>
            </a:endParaRPr>
          </a:p>
          <a:p>
            <a:pPr indent="0" lvl="0" marL="0" marR="0" rtl="0" algn="just">
              <a:spcBef>
                <a:spcPts val="0"/>
              </a:spcBef>
              <a:spcAft>
                <a:spcPts val="0"/>
              </a:spcAft>
              <a:buNone/>
            </a:pPr>
            <a:r>
              <a:rPr b="0" lang="it-IT" sz="1800" u="none">
                <a:solidFill>
                  <a:schemeClr val="dk1"/>
                </a:solidFill>
                <a:latin typeface="Calibri"/>
                <a:ea typeface="Calibri"/>
                <a:cs typeface="Calibri"/>
                <a:sym typeface="Calibri"/>
              </a:rPr>
              <a:t>The application simplifies the annotation and uploading of image datasets to an XNAT-based archive system, with a focus on the unique requirements and structure of preclinical imaging studies.</a:t>
            </a:r>
            <a:endParaRPr b="0" sz="1800" u="none">
              <a:solidFill>
                <a:schemeClr val="dk1"/>
              </a:solidFill>
              <a:latin typeface="Calibri"/>
              <a:ea typeface="Calibri"/>
              <a:cs typeface="Calibri"/>
              <a:sym typeface="Calibri"/>
            </a:endParaRPr>
          </a:p>
          <a:p>
            <a:pPr indent="0" lvl="0" marL="0" marR="0" rtl="0" algn="just">
              <a:spcBef>
                <a:spcPts val="0"/>
              </a:spcBef>
              <a:spcAft>
                <a:spcPts val="0"/>
              </a:spcAft>
              <a:buNone/>
            </a:pPr>
            <a:r>
              <a:t/>
            </a:r>
            <a:endParaRPr b="0" sz="1800" u="none">
              <a:solidFill>
                <a:srgbClr val="172946"/>
              </a:solidFill>
              <a:latin typeface="Calibri"/>
              <a:ea typeface="Calibri"/>
              <a:cs typeface="Calibri"/>
              <a:sym typeface="Calibri"/>
            </a:endParaRPr>
          </a:p>
        </p:txBody>
      </p:sp>
      <p:pic>
        <p:nvPicPr>
          <p:cNvPr descr="Immagine che contiene testo, schermata, diagramma&#10;&#10;Il contenuto generato dall&amp;#39;IA potrebbe non essere corretto." id="105" name="Google Shape;105;p2"/>
          <p:cNvPicPr preferRelativeResize="0"/>
          <p:nvPr/>
        </p:nvPicPr>
        <p:blipFill rotWithShape="1">
          <a:blip r:embed="rId4">
            <a:alphaModFix/>
          </a:blip>
          <a:srcRect b="0" l="0" r="0" t="0"/>
          <a:stretch/>
        </p:blipFill>
        <p:spPr>
          <a:xfrm>
            <a:off x="2598145" y="2414531"/>
            <a:ext cx="6628482" cy="37273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cxnSp>
        <p:nvCxnSpPr>
          <p:cNvPr id="111" name="Google Shape;111;p3"/>
          <p:cNvCxnSpPr/>
          <p:nvPr/>
        </p:nvCxnSpPr>
        <p:spPr>
          <a:xfrm flipH="1">
            <a:off x="310164" y="744440"/>
            <a:ext cx="7198232" cy="16185"/>
          </a:xfrm>
          <a:prstGeom prst="straightConnector1">
            <a:avLst/>
          </a:prstGeom>
          <a:noFill/>
          <a:ln cap="flat" cmpd="sng" w="28575">
            <a:solidFill>
              <a:srgbClr val="172946"/>
            </a:solidFill>
            <a:prstDash val="solid"/>
            <a:miter lim="800000"/>
            <a:headEnd len="sm" w="sm" type="none"/>
            <a:tailEnd len="med" w="med" type="none"/>
          </a:ln>
        </p:spPr>
      </p:cxnSp>
      <p:sp>
        <p:nvSpPr>
          <p:cNvPr id="112" name="Google Shape;112;p3"/>
          <p:cNvSpPr txBox="1"/>
          <p:nvPr/>
        </p:nvSpPr>
        <p:spPr>
          <a:xfrm>
            <a:off x="310403" y="94032"/>
            <a:ext cx="77338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3600">
                <a:solidFill>
                  <a:srgbClr val="172946"/>
                </a:solidFill>
                <a:latin typeface="Calibri"/>
                <a:ea typeface="Calibri"/>
                <a:cs typeface="Calibri"/>
                <a:sym typeface="Calibri"/>
              </a:rPr>
              <a:t>Download XNAT-PIC</a:t>
            </a:r>
            <a:r>
              <a:rPr b="1" lang="it-IT" sz="3600">
                <a:solidFill>
                  <a:srgbClr val="172946"/>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13" name="Google Shape;113;p3"/>
          <p:cNvSpPr/>
          <p:nvPr/>
        </p:nvSpPr>
        <p:spPr>
          <a:xfrm>
            <a:off x="9903568" y="1379204"/>
            <a:ext cx="301767" cy="337525"/>
          </a:xfrm>
          <a:prstGeom prst="rect">
            <a:avLst/>
          </a:prstGeom>
          <a:solidFill>
            <a:schemeClr val="lt1"/>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ategory: Nodes - Euro-BioImaging" id="114" name="Google Shape;114;p3"/>
          <p:cNvPicPr preferRelativeResize="0"/>
          <p:nvPr/>
        </p:nvPicPr>
        <p:blipFill rotWithShape="1">
          <a:blip r:embed="rId3">
            <a:alphaModFix/>
          </a:blip>
          <a:srcRect b="34559" l="17216" r="17582" t="7763"/>
          <a:stretch/>
        </p:blipFill>
        <p:spPr>
          <a:xfrm>
            <a:off x="10982392" y="93620"/>
            <a:ext cx="1212396" cy="1075776"/>
          </a:xfrm>
          <a:prstGeom prst="rect">
            <a:avLst/>
          </a:prstGeom>
          <a:noFill/>
          <a:ln>
            <a:noFill/>
          </a:ln>
        </p:spPr>
      </p:pic>
      <p:sp>
        <p:nvSpPr>
          <p:cNvPr id="115" name="Google Shape;115;p3"/>
          <p:cNvSpP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888888"/>
                </a:solidFill>
                <a:latin typeface="Calibri"/>
                <a:ea typeface="Calibri"/>
                <a:cs typeface="Calibri"/>
                <a:sym typeface="Calibri"/>
              </a:rPr>
              <a:t>francesco.gammaraccio@unito.it</a:t>
            </a:r>
            <a:endParaRPr sz="1200">
              <a:solidFill>
                <a:srgbClr val="888888"/>
              </a:solidFill>
              <a:latin typeface="Calibri"/>
              <a:ea typeface="Calibri"/>
              <a:cs typeface="Calibri"/>
              <a:sym typeface="Calibri"/>
            </a:endParaRPr>
          </a:p>
        </p:txBody>
      </p:sp>
      <p:sp>
        <p:nvSpPr>
          <p:cNvPr id="116" name="Google Shape;116;p3"/>
          <p:cNvSpPr/>
          <p:nvPr/>
        </p:nvSpPr>
        <p:spPr>
          <a:xfrm>
            <a:off x="313225" y="1846861"/>
            <a:ext cx="1041832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117" name="Google Shape;117;p3"/>
          <p:cNvSpPr txBox="1"/>
          <p:nvPr/>
        </p:nvSpPr>
        <p:spPr>
          <a:xfrm>
            <a:off x="7288065" y="2021580"/>
            <a:ext cx="4709700" cy="6465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b="1" lang="it-IT" sz="1800">
                <a:solidFill>
                  <a:schemeClr val="dk1"/>
                </a:solidFill>
                <a:latin typeface="Calibri"/>
                <a:ea typeface="Calibri"/>
                <a:cs typeface="Calibri"/>
                <a:sym typeface="Calibri"/>
              </a:rPr>
              <a:t>GitHub</a:t>
            </a:r>
            <a:r>
              <a:rPr lang="it-IT" sz="1800">
                <a:solidFill>
                  <a:schemeClr val="dk1"/>
                </a:solidFill>
                <a:latin typeface="Calibri"/>
                <a:ea typeface="Calibri"/>
                <a:cs typeface="Calibri"/>
                <a:sym typeface="Calibri"/>
              </a:rPr>
              <a:t>: </a:t>
            </a:r>
            <a:r>
              <a:rPr lang="it-IT" sz="1800" u="sng">
                <a:solidFill>
                  <a:schemeClr val="hlink"/>
                </a:solidFill>
                <a:latin typeface="Calibri"/>
                <a:ea typeface="Calibri"/>
                <a:cs typeface="Calibri"/>
                <a:sym typeface="Calibri"/>
                <a:hlinkClick r:id="rId4"/>
              </a:rPr>
              <a:t>https://github.com/cim-unito/XNAT-PIC</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clipart, schizzo, Elementi grafici, simbolo&#10;&#10;Il contenuto generato dall&amp;#39;IA potrebbe non essere corretto." id="118" name="Google Shape;118;p3"/>
          <p:cNvPicPr preferRelativeResize="0"/>
          <p:nvPr/>
        </p:nvPicPr>
        <p:blipFill rotWithShape="1">
          <a:blip r:embed="rId5">
            <a:alphaModFix/>
          </a:blip>
          <a:srcRect b="0" l="0" r="0" t="0"/>
          <a:stretch/>
        </p:blipFill>
        <p:spPr>
          <a:xfrm flipH="1">
            <a:off x="6608692" y="1998166"/>
            <a:ext cx="734460" cy="386510"/>
          </a:xfrm>
          <a:prstGeom prst="rect">
            <a:avLst/>
          </a:prstGeom>
          <a:noFill/>
          <a:ln>
            <a:noFill/>
          </a:ln>
        </p:spPr>
      </p:pic>
      <p:sp>
        <p:nvSpPr>
          <p:cNvPr id="119" name="Google Shape;119;p3"/>
          <p:cNvSpPr txBox="1"/>
          <p:nvPr/>
        </p:nvSpPr>
        <p:spPr>
          <a:xfrm flipH="1" rot="10800000">
            <a:off x="1606627" y="9910897"/>
            <a:ext cx="1303664" cy="58909"/>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spcBef>
                <a:spcPts val="0"/>
              </a:spcBef>
              <a:spcAft>
                <a:spcPts val="0"/>
              </a:spcAft>
              <a:buNone/>
            </a:pPr>
            <a:r>
              <a:rPr lang="it-IT" sz="1800">
                <a:solidFill>
                  <a:schemeClr val="dk1"/>
                </a:solidFill>
                <a:latin typeface="Calibri"/>
                <a:ea typeface="Calibri"/>
                <a:cs typeface="Calibri"/>
                <a:sym typeface="Calibri"/>
              </a:rPr>
              <a:t>ThePhoto di PhotoAuthor è concessa in licenza secondo CCYYSA.</a:t>
            </a:r>
            <a:endParaRPr/>
          </a:p>
        </p:txBody>
      </p:sp>
      <p:pic>
        <p:nvPicPr>
          <p:cNvPr descr="Immagine che contiene testo, schermata, Carattere, numero&#10;&#10;Il contenuto generato dall&amp;#39;IA potrebbe non essere corretto." id="120" name="Google Shape;120;p3"/>
          <p:cNvPicPr preferRelativeResize="0"/>
          <p:nvPr/>
        </p:nvPicPr>
        <p:blipFill rotWithShape="1">
          <a:blip r:embed="rId6">
            <a:alphaModFix/>
          </a:blip>
          <a:srcRect b="0" l="0" r="0" t="0"/>
          <a:stretch/>
        </p:blipFill>
        <p:spPr>
          <a:xfrm>
            <a:off x="436104" y="992605"/>
            <a:ext cx="6005846" cy="5043237"/>
          </a:xfrm>
          <a:prstGeom prst="rect">
            <a:avLst/>
          </a:prstGeom>
          <a:noFill/>
          <a:ln>
            <a:noFill/>
          </a:ln>
        </p:spPr>
      </p:pic>
      <p:sp>
        <p:nvSpPr>
          <p:cNvPr id="121" name="Google Shape;121;p3"/>
          <p:cNvSpPr/>
          <p:nvPr/>
        </p:nvSpPr>
        <p:spPr>
          <a:xfrm>
            <a:off x="260685" y="5113422"/>
            <a:ext cx="2697078" cy="1022683"/>
          </a:xfrm>
          <a:prstGeom prst="rect">
            <a:avLst/>
          </a:prstGeom>
          <a:noFill/>
          <a:ln cap="flat" cmpd="sng" w="12700">
            <a:solidFill>
              <a:srgbClr val="233E6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2" name="Google Shape;122;p3"/>
          <p:cNvSpPr txBox="1"/>
          <p:nvPr/>
        </p:nvSpPr>
        <p:spPr>
          <a:xfrm>
            <a:off x="3044980" y="5393674"/>
            <a:ext cx="462756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800">
                <a:solidFill>
                  <a:srgbClr val="233E6B"/>
                </a:solidFill>
                <a:latin typeface="Calibri"/>
                <a:ea typeface="Calibri"/>
                <a:cs typeface="Calibri"/>
                <a:sym typeface="Calibri"/>
              </a:rPr>
              <a:t>XNAT-PIC</a:t>
            </a:r>
            <a:r>
              <a:rPr b="1" i="0" lang="it-IT" sz="1800">
                <a:solidFill>
                  <a:srgbClr val="233E6B"/>
                </a:solidFill>
                <a:latin typeface="Calibri"/>
                <a:ea typeface="Calibri"/>
                <a:cs typeface="Calibri"/>
                <a:sym typeface="Calibri"/>
              </a:rPr>
              <a:t> v2.1-beta.1</a:t>
            </a:r>
            <a:endParaRPr sz="1800">
              <a:solidFill>
                <a:srgbClr val="233E6B"/>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cartone animato, illustrazione&#10;&#10;Il contenuto generato dall&amp;#39;IA potrebbe non essere corretto." id="123" name="Google Shape;123;p3"/>
          <p:cNvPicPr preferRelativeResize="0"/>
          <p:nvPr/>
        </p:nvPicPr>
        <p:blipFill rotWithShape="1">
          <a:blip r:embed="rId7">
            <a:alphaModFix/>
          </a:blip>
          <a:srcRect b="0" l="0" r="0" t="0"/>
          <a:stretch/>
        </p:blipFill>
        <p:spPr>
          <a:xfrm>
            <a:off x="8895544" y="2774642"/>
            <a:ext cx="1173080" cy="122321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cxnSp>
        <p:nvCxnSpPr>
          <p:cNvPr id="129" name="Google Shape;129;p4"/>
          <p:cNvCxnSpPr/>
          <p:nvPr/>
        </p:nvCxnSpPr>
        <p:spPr>
          <a:xfrm flipH="1">
            <a:off x="310164" y="744440"/>
            <a:ext cx="7198232" cy="16185"/>
          </a:xfrm>
          <a:prstGeom prst="straightConnector1">
            <a:avLst/>
          </a:prstGeom>
          <a:noFill/>
          <a:ln cap="flat" cmpd="sng" w="28575">
            <a:solidFill>
              <a:srgbClr val="172946"/>
            </a:solidFill>
            <a:prstDash val="solid"/>
            <a:miter lim="800000"/>
            <a:headEnd len="sm" w="sm" type="none"/>
            <a:tailEnd len="med" w="med" type="none"/>
          </a:ln>
        </p:spPr>
      </p:cxnSp>
      <p:sp>
        <p:nvSpPr>
          <p:cNvPr id="130" name="Google Shape;130;p4"/>
          <p:cNvSpPr txBox="1"/>
          <p:nvPr/>
        </p:nvSpPr>
        <p:spPr>
          <a:xfrm>
            <a:off x="310403" y="94032"/>
            <a:ext cx="77338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3600">
                <a:solidFill>
                  <a:srgbClr val="172946"/>
                </a:solidFill>
                <a:latin typeface="Calibri"/>
                <a:ea typeface="Calibri"/>
                <a:cs typeface="Calibri"/>
                <a:sym typeface="Calibri"/>
              </a:rPr>
              <a:t>Folder Structure</a:t>
            </a:r>
            <a:r>
              <a:rPr b="1" lang="it-IT" sz="3600">
                <a:solidFill>
                  <a:srgbClr val="172946"/>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31" name="Google Shape;131;p4"/>
          <p:cNvSpPr/>
          <p:nvPr/>
        </p:nvSpPr>
        <p:spPr>
          <a:xfrm>
            <a:off x="9903568" y="1379204"/>
            <a:ext cx="301767" cy="337525"/>
          </a:xfrm>
          <a:prstGeom prst="rect">
            <a:avLst/>
          </a:prstGeom>
          <a:solidFill>
            <a:schemeClr val="lt1"/>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ategory: Nodes - Euro-BioImaging" id="132" name="Google Shape;132;p4"/>
          <p:cNvPicPr preferRelativeResize="0"/>
          <p:nvPr/>
        </p:nvPicPr>
        <p:blipFill rotWithShape="1">
          <a:blip r:embed="rId3">
            <a:alphaModFix/>
          </a:blip>
          <a:srcRect b="34559" l="17216" r="17582" t="7763"/>
          <a:stretch/>
        </p:blipFill>
        <p:spPr>
          <a:xfrm>
            <a:off x="10982392" y="93620"/>
            <a:ext cx="1212396" cy="1075776"/>
          </a:xfrm>
          <a:prstGeom prst="rect">
            <a:avLst/>
          </a:prstGeom>
          <a:noFill/>
          <a:ln>
            <a:noFill/>
          </a:ln>
        </p:spPr>
      </p:pic>
      <p:sp>
        <p:nvSpPr>
          <p:cNvPr id="133" name="Google Shape;133;p4"/>
          <p:cNvSpP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888888"/>
                </a:solidFill>
                <a:latin typeface="Calibri"/>
                <a:ea typeface="Calibri"/>
                <a:cs typeface="Calibri"/>
                <a:sym typeface="Calibri"/>
              </a:rPr>
              <a:t>francesco.gammaraccio@unito.it</a:t>
            </a:r>
            <a:endParaRPr sz="1200">
              <a:solidFill>
                <a:srgbClr val="888888"/>
              </a:solidFill>
              <a:latin typeface="Calibri"/>
              <a:ea typeface="Calibri"/>
              <a:cs typeface="Calibri"/>
              <a:sym typeface="Calibri"/>
            </a:endParaRPr>
          </a:p>
        </p:txBody>
      </p:sp>
      <p:sp>
        <p:nvSpPr>
          <p:cNvPr id="134" name="Google Shape;134;p4"/>
          <p:cNvSpPr/>
          <p:nvPr/>
        </p:nvSpPr>
        <p:spPr>
          <a:xfrm>
            <a:off x="313225" y="1846861"/>
            <a:ext cx="1041832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
        <p:nvSpPr>
          <p:cNvPr id="135" name="Google Shape;135;p4"/>
          <p:cNvSpPr txBox="1"/>
          <p:nvPr/>
        </p:nvSpPr>
        <p:spPr>
          <a:xfrm flipH="1" rot="10800000">
            <a:off x="1606627" y="9910897"/>
            <a:ext cx="1303664" cy="58909"/>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spcBef>
                <a:spcPts val="0"/>
              </a:spcBef>
              <a:spcAft>
                <a:spcPts val="0"/>
              </a:spcAft>
              <a:buNone/>
            </a:pPr>
            <a:r>
              <a:rPr lang="it-IT" sz="1800">
                <a:solidFill>
                  <a:schemeClr val="dk1"/>
                </a:solidFill>
                <a:latin typeface="Calibri"/>
                <a:ea typeface="Calibri"/>
                <a:cs typeface="Calibri"/>
                <a:sym typeface="Calibri"/>
              </a:rPr>
              <a:t>ThePhoto di PhotoAuthor è concessa in licenza secondo CCYYSA.</a:t>
            </a:r>
            <a:endParaRPr/>
          </a:p>
        </p:txBody>
      </p:sp>
      <p:sp>
        <p:nvSpPr>
          <p:cNvPr id="136" name="Google Shape;136;p4"/>
          <p:cNvSpPr txBox="1"/>
          <p:nvPr/>
        </p:nvSpPr>
        <p:spPr>
          <a:xfrm>
            <a:off x="192795" y="996108"/>
            <a:ext cx="10539466"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2400">
                <a:solidFill>
                  <a:schemeClr val="dk1"/>
                </a:solidFill>
                <a:latin typeface="Calibri"/>
                <a:ea typeface="Calibri"/>
                <a:cs typeface="Calibri"/>
                <a:sym typeface="Calibri"/>
              </a:rPr>
              <a:t>C:\Users\Francesco\Desktop\Project1_BLEP\BLEP1\SR2-BLEP.rF1\1\MRIm1.dcm</a:t>
            </a:r>
            <a:endParaRPr sz="24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testo, schermata, diagramma, design&#10;&#10;Il contenuto generato dall&amp;#39;IA potrebbe non essere corretto." id="137" name="Google Shape;137;p4"/>
          <p:cNvPicPr preferRelativeResize="0"/>
          <p:nvPr/>
        </p:nvPicPr>
        <p:blipFill rotWithShape="1">
          <a:blip r:embed="rId4">
            <a:alphaModFix/>
          </a:blip>
          <a:srcRect b="31995" l="0" r="26431" t="0"/>
          <a:stretch/>
        </p:blipFill>
        <p:spPr>
          <a:xfrm>
            <a:off x="2010577" y="2084024"/>
            <a:ext cx="7344582" cy="3782462"/>
          </a:xfrm>
          <a:prstGeom prst="rect">
            <a:avLst/>
          </a:prstGeom>
          <a:noFill/>
          <a:ln>
            <a:noFill/>
          </a:ln>
        </p:spPr>
      </p:pic>
      <p:sp>
        <p:nvSpPr>
          <p:cNvPr id="138" name="Google Shape;138;p4"/>
          <p:cNvSpPr txBox="1"/>
          <p:nvPr/>
        </p:nvSpPr>
        <p:spPr>
          <a:xfrm>
            <a:off x="4177229" y="1546949"/>
            <a:ext cx="6812091" cy="61555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rgbClr val="233E6B"/>
                </a:solidFill>
                <a:latin typeface="Calibri"/>
                <a:ea typeface="Calibri"/>
                <a:cs typeface="Calibri"/>
                <a:sym typeface="Calibri"/>
              </a:rPr>
              <a:t>     Project</a:t>
            </a:r>
            <a:r>
              <a:rPr lang="it-IT" sz="1800">
                <a:solidFill>
                  <a:schemeClr val="dk1"/>
                </a:solidFill>
                <a:latin typeface="Calibri"/>
                <a:ea typeface="Calibri"/>
                <a:cs typeface="Calibri"/>
                <a:sym typeface="Calibri"/>
              </a:rPr>
              <a:t>            </a:t>
            </a:r>
            <a:r>
              <a:rPr lang="it-IT" sz="1800">
                <a:solidFill>
                  <a:srgbClr val="3D3D3D"/>
                </a:solidFill>
                <a:latin typeface="Calibri"/>
                <a:ea typeface="Calibri"/>
                <a:cs typeface="Calibri"/>
                <a:sym typeface="Calibri"/>
              </a:rPr>
              <a:t>Subject         </a:t>
            </a:r>
            <a:r>
              <a:rPr lang="it-IT" sz="1800">
                <a:solidFill>
                  <a:srgbClr val="233E6B"/>
                </a:solidFill>
                <a:latin typeface="Calibri"/>
                <a:ea typeface="Calibri"/>
                <a:cs typeface="Calibri"/>
                <a:sym typeface="Calibri"/>
              </a:rPr>
              <a:t>Experiment      </a:t>
            </a:r>
            <a:r>
              <a:rPr lang="it-IT" sz="1800">
                <a:solidFill>
                  <a:srgbClr val="3D3D3D"/>
                </a:solidFill>
                <a:latin typeface="Calibri"/>
                <a:ea typeface="Calibri"/>
                <a:cs typeface="Calibri"/>
                <a:sym typeface="Calibri"/>
              </a:rPr>
              <a:t>Scan     </a:t>
            </a:r>
            <a:r>
              <a:rPr lang="it-IT" sz="1800">
                <a:solidFill>
                  <a:srgbClr val="233E6B"/>
                </a:solidFill>
                <a:latin typeface="Calibri"/>
                <a:ea typeface="Calibri"/>
                <a:cs typeface="Calibri"/>
                <a:sym typeface="Calibri"/>
              </a:rPr>
              <a:t>DICOM Image</a:t>
            </a:r>
            <a:endParaRPr sz="1800">
              <a:solidFill>
                <a:srgbClr val="233E6B"/>
              </a:solidFill>
              <a:latin typeface="Calibri"/>
              <a:ea typeface="Calibri"/>
              <a:cs typeface="Calibri"/>
              <a:sym typeface="Calibri"/>
            </a:endParaRPr>
          </a:p>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139" name="Google Shape;139;p4"/>
          <p:cNvSpPr/>
          <p:nvPr/>
        </p:nvSpPr>
        <p:spPr>
          <a:xfrm>
            <a:off x="3912800" y="1021838"/>
            <a:ext cx="1774657" cy="421105"/>
          </a:xfrm>
          <a:prstGeom prst="rect">
            <a:avLst/>
          </a:prstGeom>
          <a:noFill/>
          <a:ln cap="flat" cmpd="sng" w="12700">
            <a:solidFill>
              <a:srgbClr val="233E6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4"/>
          <p:cNvSpPr/>
          <p:nvPr/>
        </p:nvSpPr>
        <p:spPr>
          <a:xfrm>
            <a:off x="5684679" y="1021838"/>
            <a:ext cx="920850" cy="421105"/>
          </a:xfrm>
          <a:prstGeom prst="rect">
            <a:avLst/>
          </a:prstGeom>
          <a:no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4"/>
          <p:cNvSpPr/>
          <p:nvPr/>
        </p:nvSpPr>
        <p:spPr>
          <a:xfrm>
            <a:off x="6602751" y="1021837"/>
            <a:ext cx="1774657" cy="421105"/>
          </a:xfrm>
          <a:prstGeom prst="rect">
            <a:avLst/>
          </a:prstGeom>
          <a:noFill/>
          <a:ln cap="flat" cmpd="sng" w="12700">
            <a:solidFill>
              <a:srgbClr val="233E6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4"/>
          <p:cNvSpPr/>
          <p:nvPr/>
        </p:nvSpPr>
        <p:spPr>
          <a:xfrm>
            <a:off x="8374630" y="1021837"/>
            <a:ext cx="324103" cy="421105"/>
          </a:xfrm>
          <a:prstGeom prst="rect">
            <a:avLst/>
          </a:prstGeom>
          <a:noFill/>
          <a:ln cap="flat" cmpd="sng" w="1270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4"/>
          <p:cNvSpPr/>
          <p:nvPr/>
        </p:nvSpPr>
        <p:spPr>
          <a:xfrm>
            <a:off x="8695956" y="1021838"/>
            <a:ext cx="1774657" cy="421105"/>
          </a:xfrm>
          <a:prstGeom prst="rect">
            <a:avLst/>
          </a:prstGeom>
          <a:noFill/>
          <a:ln cap="flat" cmpd="sng" w="12700">
            <a:solidFill>
              <a:srgbClr val="233E6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cxnSp>
        <p:nvCxnSpPr>
          <p:cNvPr id="149" name="Google Shape;149;p5"/>
          <p:cNvCxnSpPr/>
          <p:nvPr/>
        </p:nvCxnSpPr>
        <p:spPr>
          <a:xfrm flipH="1">
            <a:off x="310164" y="744440"/>
            <a:ext cx="7198232" cy="16185"/>
          </a:xfrm>
          <a:prstGeom prst="straightConnector1">
            <a:avLst/>
          </a:prstGeom>
          <a:noFill/>
          <a:ln cap="flat" cmpd="sng" w="28575">
            <a:solidFill>
              <a:srgbClr val="172946"/>
            </a:solidFill>
            <a:prstDash val="solid"/>
            <a:miter lim="800000"/>
            <a:headEnd len="sm" w="sm" type="none"/>
            <a:tailEnd len="med" w="med" type="none"/>
          </a:ln>
        </p:spPr>
      </p:cxnSp>
      <p:sp>
        <p:nvSpPr>
          <p:cNvPr id="150" name="Google Shape;150;p5"/>
          <p:cNvSpPr txBox="1"/>
          <p:nvPr/>
        </p:nvSpPr>
        <p:spPr>
          <a:xfrm>
            <a:off x="310403" y="94032"/>
            <a:ext cx="77338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3600">
                <a:solidFill>
                  <a:srgbClr val="172946"/>
                </a:solidFill>
                <a:latin typeface="Calibri"/>
                <a:ea typeface="Calibri"/>
                <a:cs typeface="Calibri"/>
                <a:sym typeface="Calibri"/>
              </a:rPr>
              <a:t>XNAT Login</a:t>
            </a:r>
            <a:r>
              <a:rPr b="1" lang="it-IT" sz="3600">
                <a:solidFill>
                  <a:srgbClr val="172946"/>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51" name="Google Shape;151;p5"/>
          <p:cNvSpPr/>
          <p:nvPr/>
        </p:nvSpPr>
        <p:spPr>
          <a:xfrm>
            <a:off x="9903568" y="1379204"/>
            <a:ext cx="301767" cy="337525"/>
          </a:xfrm>
          <a:prstGeom prst="rect">
            <a:avLst/>
          </a:prstGeom>
          <a:solidFill>
            <a:schemeClr val="lt1"/>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ategory: Nodes - Euro-BioImaging" id="152" name="Google Shape;152;p5"/>
          <p:cNvPicPr preferRelativeResize="0"/>
          <p:nvPr/>
        </p:nvPicPr>
        <p:blipFill rotWithShape="1">
          <a:blip r:embed="rId3">
            <a:alphaModFix/>
          </a:blip>
          <a:srcRect b="34559" l="17216" r="17582" t="7763"/>
          <a:stretch/>
        </p:blipFill>
        <p:spPr>
          <a:xfrm>
            <a:off x="10982392" y="93620"/>
            <a:ext cx="1212396" cy="1075776"/>
          </a:xfrm>
          <a:prstGeom prst="rect">
            <a:avLst/>
          </a:prstGeom>
          <a:noFill/>
          <a:ln>
            <a:noFill/>
          </a:ln>
        </p:spPr>
      </p:pic>
      <p:sp>
        <p:nvSpPr>
          <p:cNvPr id="153" name="Google Shape;153;p5"/>
          <p:cNvSpP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888888"/>
                </a:solidFill>
                <a:latin typeface="Calibri"/>
                <a:ea typeface="Calibri"/>
                <a:cs typeface="Calibri"/>
                <a:sym typeface="Calibri"/>
              </a:rPr>
              <a:t>francesco.gammaraccio@unito.it</a:t>
            </a:r>
            <a:endParaRPr sz="1200">
              <a:solidFill>
                <a:srgbClr val="888888"/>
              </a:solidFill>
              <a:latin typeface="Calibri"/>
              <a:ea typeface="Calibri"/>
              <a:cs typeface="Calibri"/>
              <a:sym typeface="Calibri"/>
            </a:endParaRPr>
          </a:p>
        </p:txBody>
      </p:sp>
      <p:sp>
        <p:nvSpPr>
          <p:cNvPr id="154" name="Google Shape;154;p5"/>
          <p:cNvSpPr txBox="1"/>
          <p:nvPr/>
        </p:nvSpPr>
        <p:spPr>
          <a:xfrm flipH="1" rot="10800000">
            <a:off x="1606627" y="9910897"/>
            <a:ext cx="1303664" cy="58909"/>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spcBef>
                <a:spcPts val="0"/>
              </a:spcBef>
              <a:spcAft>
                <a:spcPts val="0"/>
              </a:spcAft>
              <a:buNone/>
            </a:pPr>
            <a:r>
              <a:rPr lang="it-IT" sz="1800">
                <a:solidFill>
                  <a:schemeClr val="dk1"/>
                </a:solidFill>
                <a:latin typeface="Calibri"/>
                <a:ea typeface="Calibri"/>
                <a:cs typeface="Calibri"/>
                <a:sym typeface="Calibri"/>
              </a:rPr>
              <a:t>ThePhoto di PhotoAuthor è concessa in licenza secondo CCYYSA.</a:t>
            </a:r>
            <a:endParaRPr/>
          </a:p>
        </p:txBody>
      </p:sp>
      <p:sp>
        <p:nvSpPr>
          <p:cNvPr id="155" name="Google Shape;155;p5"/>
          <p:cNvSpPr txBox="1"/>
          <p:nvPr/>
        </p:nvSpPr>
        <p:spPr>
          <a:xfrm>
            <a:off x="310816" y="1062789"/>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chemeClr val="dk1"/>
                </a:solidFill>
                <a:latin typeface="Calibri"/>
                <a:ea typeface="Calibri"/>
                <a:cs typeface="Calibri"/>
                <a:sym typeface="Calibri"/>
              </a:rPr>
              <a:t>Use the credentials provided to log in to our XNAT instance.</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testo, schermata, Carattere, numero&#10;&#10;Il contenuto generato dall&amp;#39;IA potrebbe non essere corretto." id="156" name="Google Shape;156;p5"/>
          <p:cNvPicPr preferRelativeResize="0"/>
          <p:nvPr/>
        </p:nvPicPr>
        <p:blipFill rotWithShape="1">
          <a:blip r:embed="rId4">
            <a:alphaModFix/>
          </a:blip>
          <a:srcRect b="0" l="0" r="0" t="0"/>
          <a:stretch/>
        </p:blipFill>
        <p:spPr>
          <a:xfrm>
            <a:off x="647449" y="2271462"/>
            <a:ext cx="4219575" cy="3257550"/>
          </a:xfrm>
          <a:prstGeom prst="rect">
            <a:avLst/>
          </a:prstGeom>
          <a:noFill/>
          <a:ln cap="flat" cmpd="sng" w="9525">
            <a:solidFill>
              <a:srgbClr val="233E6B"/>
            </a:solidFill>
            <a:prstDash val="solid"/>
            <a:round/>
            <a:headEnd len="sm" w="sm" type="none"/>
            <a:tailEnd len="sm" w="sm" type="none"/>
          </a:ln>
        </p:spPr>
      </p:pic>
      <p:sp>
        <p:nvSpPr>
          <p:cNvPr id="157" name="Google Shape;157;p5"/>
          <p:cNvSpPr txBox="1"/>
          <p:nvPr/>
        </p:nvSpPr>
        <p:spPr>
          <a:xfrm>
            <a:off x="1714500" y="1584157"/>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u="sng">
                <a:solidFill>
                  <a:schemeClr val="dk1"/>
                </a:solidFill>
                <a:latin typeface="Calibri"/>
                <a:ea typeface="Calibri"/>
                <a:cs typeface="Calibri"/>
                <a:sym typeface="Calibri"/>
                <a:hlinkClick r:id="rId5">
                  <a:extLst>
                    <a:ext uri="{A12FA001-AC4F-418D-AE19-62706E023703}">
                      <ahyp:hlinkClr val="tx"/>
                    </a:ext>
                  </a:extLst>
                </a:hlinkClick>
              </a:rPr>
              <a:t>https://eubi-xnat.hpc4ai.unito.it/</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testo, schermata, Carattere, numero&#10;&#10;Il contenuto generato dall&amp;#39;IA potrebbe non essere corretto." id="158" name="Google Shape;158;p5"/>
          <p:cNvPicPr preferRelativeResize="0"/>
          <p:nvPr/>
        </p:nvPicPr>
        <p:blipFill rotWithShape="1">
          <a:blip r:embed="rId6">
            <a:alphaModFix/>
          </a:blip>
          <a:srcRect b="-310" l="0" r="40633" t="74"/>
          <a:stretch/>
        </p:blipFill>
        <p:spPr>
          <a:xfrm>
            <a:off x="5245767" y="1467225"/>
            <a:ext cx="5808810" cy="4086371"/>
          </a:xfrm>
          <a:prstGeom prst="rect">
            <a:avLst/>
          </a:prstGeom>
          <a:noFill/>
          <a:ln>
            <a:noFill/>
          </a:ln>
        </p:spPr>
      </p:pic>
      <p:pic>
        <p:nvPicPr>
          <p:cNvPr descr="Immagine che contiene Elementi grafici, grafica, design&#10;&#10;Il contenuto generato dall&amp;#39;IA potrebbe non essere corretto." id="159" name="Google Shape;159;p5"/>
          <p:cNvPicPr preferRelativeResize="0"/>
          <p:nvPr/>
        </p:nvPicPr>
        <p:blipFill rotWithShape="1">
          <a:blip r:embed="rId7">
            <a:alphaModFix/>
          </a:blip>
          <a:srcRect b="0" l="0" r="0" t="0"/>
          <a:stretch/>
        </p:blipFill>
        <p:spPr>
          <a:xfrm>
            <a:off x="471236" y="1471045"/>
            <a:ext cx="1243264" cy="48691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cxnSp>
        <p:nvCxnSpPr>
          <p:cNvPr id="165" name="Google Shape;165;p6"/>
          <p:cNvCxnSpPr/>
          <p:nvPr/>
        </p:nvCxnSpPr>
        <p:spPr>
          <a:xfrm flipH="1">
            <a:off x="310164" y="744440"/>
            <a:ext cx="7198232" cy="16185"/>
          </a:xfrm>
          <a:prstGeom prst="straightConnector1">
            <a:avLst/>
          </a:prstGeom>
          <a:noFill/>
          <a:ln cap="flat" cmpd="sng" w="28575">
            <a:solidFill>
              <a:srgbClr val="172946"/>
            </a:solidFill>
            <a:prstDash val="solid"/>
            <a:miter lim="800000"/>
            <a:headEnd len="sm" w="sm" type="none"/>
            <a:tailEnd len="med" w="med" type="none"/>
          </a:ln>
        </p:spPr>
      </p:cxnSp>
      <p:sp>
        <p:nvSpPr>
          <p:cNvPr id="166" name="Google Shape;166;p6"/>
          <p:cNvSpPr txBox="1"/>
          <p:nvPr/>
        </p:nvSpPr>
        <p:spPr>
          <a:xfrm>
            <a:off x="310403" y="94032"/>
            <a:ext cx="77338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3600">
                <a:solidFill>
                  <a:srgbClr val="172946"/>
                </a:solidFill>
                <a:latin typeface="Calibri"/>
                <a:ea typeface="Calibri"/>
                <a:cs typeface="Calibri"/>
                <a:sym typeface="Calibri"/>
              </a:rPr>
              <a:t>XNAT Login</a:t>
            </a:r>
            <a:r>
              <a:rPr b="1" lang="it-IT" sz="3600">
                <a:solidFill>
                  <a:srgbClr val="172946"/>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67" name="Google Shape;167;p6"/>
          <p:cNvSpPr/>
          <p:nvPr/>
        </p:nvSpPr>
        <p:spPr>
          <a:xfrm>
            <a:off x="9903568" y="1379204"/>
            <a:ext cx="301767" cy="337525"/>
          </a:xfrm>
          <a:prstGeom prst="rect">
            <a:avLst/>
          </a:prstGeom>
          <a:solidFill>
            <a:schemeClr val="lt1"/>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ategory: Nodes - Euro-BioImaging" id="168" name="Google Shape;168;p6"/>
          <p:cNvPicPr preferRelativeResize="0"/>
          <p:nvPr/>
        </p:nvPicPr>
        <p:blipFill rotWithShape="1">
          <a:blip r:embed="rId3">
            <a:alphaModFix/>
          </a:blip>
          <a:srcRect b="34559" l="17216" r="17582" t="7763"/>
          <a:stretch/>
        </p:blipFill>
        <p:spPr>
          <a:xfrm>
            <a:off x="10982392" y="93620"/>
            <a:ext cx="1212396" cy="1075776"/>
          </a:xfrm>
          <a:prstGeom prst="rect">
            <a:avLst/>
          </a:prstGeom>
          <a:noFill/>
          <a:ln>
            <a:noFill/>
          </a:ln>
        </p:spPr>
      </p:pic>
      <p:sp>
        <p:nvSpPr>
          <p:cNvPr id="169" name="Google Shape;169;p6"/>
          <p:cNvSpP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888888"/>
                </a:solidFill>
                <a:latin typeface="Calibri"/>
                <a:ea typeface="Calibri"/>
                <a:cs typeface="Calibri"/>
                <a:sym typeface="Calibri"/>
              </a:rPr>
              <a:t>francesco.gammaraccio@unito.it</a:t>
            </a:r>
            <a:endParaRPr sz="1200">
              <a:solidFill>
                <a:srgbClr val="888888"/>
              </a:solidFill>
              <a:latin typeface="Calibri"/>
              <a:ea typeface="Calibri"/>
              <a:cs typeface="Calibri"/>
              <a:sym typeface="Calibri"/>
            </a:endParaRPr>
          </a:p>
        </p:txBody>
      </p:sp>
      <p:sp>
        <p:nvSpPr>
          <p:cNvPr id="170" name="Google Shape;170;p6"/>
          <p:cNvSpPr txBox="1"/>
          <p:nvPr/>
        </p:nvSpPr>
        <p:spPr>
          <a:xfrm flipH="1" rot="10800000">
            <a:off x="1606627" y="9910897"/>
            <a:ext cx="1303664" cy="58909"/>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spcBef>
                <a:spcPts val="0"/>
              </a:spcBef>
              <a:spcAft>
                <a:spcPts val="0"/>
              </a:spcAft>
              <a:buNone/>
            </a:pPr>
            <a:r>
              <a:rPr lang="it-IT" sz="1800">
                <a:solidFill>
                  <a:schemeClr val="dk1"/>
                </a:solidFill>
                <a:latin typeface="Calibri"/>
                <a:ea typeface="Calibri"/>
                <a:cs typeface="Calibri"/>
                <a:sym typeface="Calibri"/>
              </a:rPr>
              <a:t>ThePhoto di PhotoAuthor è concessa in licenza secondo CCYYSA.</a:t>
            </a:r>
            <a:endParaRPr/>
          </a:p>
        </p:txBody>
      </p:sp>
      <p:sp>
        <p:nvSpPr>
          <p:cNvPr id="171" name="Google Shape;171;p6"/>
          <p:cNvSpPr txBox="1"/>
          <p:nvPr/>
        </p:nvSpPr>
        <p:spPr>
          <a:xfrm>
            <a:off x="310816" y="1062789"/>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a:solidFill>
                  <a:schemeClr val="dk1"/>
                </a:solidFill>
                <a:latin typeface="Calibri"/>
                <a:ea typeface="Calibri"/>
                <a:cs typeface="Calibri"/>
                <a:sym typeface="Calibri"/>
              </a:rPr>
              <a:t>Use the credentials provided to log in to our XNAT instance.</a:t>
            </a:r>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testo, schermata, Carattere, numero&#10;&#10;Il contenuto generato dall&amp;#39;IA potrebbe non essere corretto." id="172" name="Google Shape;172;p6"/>
          <p:cNvPicPr preferRelativeResize="0"/>
          <p:nvPr/>
        </p:nvPicPr>
        <p:blipFill rotWithShape="1">
          <a:blip r:embed="rId4">
            <a:alphaModFix/>
          </a:blip>
          <a:srcRect b="0" l="0" r="0" t="0"/>
          <a:stretch/>
        </p:blipFill>
        <p:spPr>
          <a:xfrm>
            <a:off x="647449" y="2271462"/>
            <a:ext cx="4219575" cy="3257550"/>
          </a:xfrm>
          <a:prstGeom prst="rect">
            <a:avLst/>
          </a:prstGeom>
          <a:noFill/>
          <a:ln cap="flat" cmpd="sng" w="9525">
            <a:solidFill>
              <a:srgbClr val="233E6B"/>
            </a:solidFill>
            <a:prstDash val="solid"/>
            <a:round/>
            <a:headEnd len="sm" w="sm" type="none"/>
            <a:tailEnd len="sm" w="sm" type="none"/>
          </a:ln>
        </p:spPr>
      </p:pic>
      <p:sp>
        <p:nvSpPr>
          <p:cNvPr id="173" name="Google Shape;173;p6"/>
          <p:cNvSpPr txBox="1"/>
          <p:nvPr/>
        </p:nvSpPr>
        <p:spPr>
          <a:xfrm>
            <a:off x="1714500" y="1584157"/>
            <a:ext cx="6096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1800" u="sng">
                <a:solidFill>
                  <a:schemeClr val="dk1"/>
                </a:solidFill>
                <a:latin typeface="Calibri"/>
                <a:ea typeface="Calibri"/>
                <a:cs typeface="Calibri"/>
                <a:sym typeface="Calibri"/>
                <a:hlinkClick r:id="rId5">
                  <a:extLst>
                    <a:ext uri="{A12FA001-AC4F-418D-AE19-62706E023703}">
                      <ahyp:hlinkClr val="tx"/>
                    </a:ext>
                  </a:extLst>
                </a:hlinkClick>
              </a:rPr>
              <a:t>https://eubi-xnat.hpc4ai.unito.it/</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testo, schermata, Carattere, numero&#10;&#10;Il contenuto generato dall&amp;#39;IA potrebbe non essere corretto." id="174" name="Google Shape;174;p6"/>
          <p:cNvPicPr preferRelativeResize="0"/>
          <p:nvPr/>
        </p:nvPicPr>
        <p:blipFill rotWithShape="1">
          <a:blip r:embed="rId6">
            <a:alphaModFix/>
          </a:blip>
          <a:srcRect b="-310" l="0" r="40633" t="74"/>
          <a:stretch/>
        </p:blipFill>
        <p:spPr>
          <a:xfrm>
            <a:off x="5245767" y="1467225"/>
            <a:ext cx="5808810" cy="4086371"/>
          </a:xfrm>
          <a:prstGeom prst="rect">
            <a:avLst/>
          </a:prstGeom>
          <a:noFill/>
          <a:ln>
            <a:noFill/>
          </a:ln>
        </p:spPr>
      </p:pic>
      <p:pic>
        <p:nvPicPr>
          <p:cNvPr descr="Immagine che contiene Elementi grafici, grafica, design&#10;&#10;Il contenuto generato dall&amp;#39;IA potrebbe non essere corretto." id="175" name="Google Shape;175;p6"/>
          <p:cNvPicPr preferRelativeResize="0"/>
          <p:nvPr/>
        </p:nvPicPr>
        <p:blipFill rotWithShape="1">
          <a:blip r:embed="rId7">
            <a:alphaModFix/>
          </a:blip>
          <a:srcRect b="0" l="0" r="0" t="0"/>
          <a:stretch/>
        </p:blipFill>
        <p:spPr>
          <a:xfrm>
            <a:off x="471236" y="1471045"/>
            <a:ext cx="1243264" cy="48691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cxnSp>
        <p:nvCxnSpPr>
          <p:cNvPr id="181" name="Google Shape;181;p7"/>
          <p:cNvCxnSpPr/>
          <p:nvPr/>
        </p:nvCxnSpPr>
        <p:spPr>
          <a:xfrm flipH="1">
            <a:off x="310164" y="744440"/>
            <a:ext cx="7198232" cy="16185"/>
          </a:xfrm>
          <a:prstGeom prst="straightConnector1">
            <a:avLst/>
          </a:prstGeom>
          <a:noFill/>
          <a:ln cap="flat" cmpd="sng" w="28575">
            <a:solidFill>
              <a:srgbClr val="172946"/>
            </a:solidFill>
            <a:prstDash val="solid"/>
            <a:miter lim="800000"/>
            <a:headEnd len="sm" w="sm" type="none"/>
            <a:tailEnd len="med" w="med" type="none"/>
          </a:ln>
        </p:spPr>
      </p:cxnSp>
      <p:sp>
        <p:nvSpPr>
          <p:cNvPr id="182" name="Google Shape;182;p7"/>
          <p:cNvSpPr txBox="1"/>
          <p:nvPr/>
        </p:nvSpPr>
        <p:spPr>
          <a:xfrm>
            <a:off x="310403" y="94032"/>
            <a:ext cx="77338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it-IT" sz="3600">
                <a:solidFill>
                  <a:srgbClr val="172946"/>
                </a:solidFill>
                <a:latin typeface="Calibri"/>
                <a:ea typeface="Calibri"/>
                <a:cs typeface="Calibri"/>
                <a:sym typeface="Calibri"/>
              </a:rPr>
              <a:t>Custom Forms</a:t>
            </a:r>
            <a:r>
              <a:rPr b="1" lang="it-IT" sz="3600">
                <a:solidFill>
                  <a:srgbClr val="172946"/>
                </a:solidFill>
                <a:latin typeface="Calibri"/>
                <a:ea typeface="Calibri"/>
                <a:cs typeface="Calibri"/>
                <a:sym typeface="Calibri"/>
              </a:rPr>
              <a:t> </a:t>
            </a:r>
            <a:endParaRPr sz="1800">
              <a:solidFill>
                <a:schemeClr val="dk1"/>
              </a:solidFill>
              <a:latin typeface="Calibri"/>
              <a:ea typeface="Calibri"/>
              <a:cs typeface="Calibri"/>
              <a:sym typeface="Calibri"/>
            </a:endParaRPr>
          </a:p>
        </p:txBody>
      </p:sp>
      <p:sp>
        <p:nvSpPr>
          <p:cNvPr id="183" name="Google Shape;183;p7"/>
          <p:cNvSpPr/>
          <p:nvPr/>
        </p:nvSpPr>
        <p:spPr>
          <a:xfrm>
            <a:off x="9903568" y="1379204"/>
            <a:ext cx="301767" cy="337525"/>
          </a:xfrm>
          <a:prstGeom prst="rect">
            <a:avLst/>
          </a:prstGeom>
          <a:solidFill>
            <a:schemeClr val="lt1"/>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ategory: Nodes - Euro-BioImaging" id="184" name="Google Shape;184;p7"/>
          <p:cNvPicPr preferRelativeResize="0"/>
          <p:nvPr/>
        </p:nvPicPr>
        <p:blipFill rotWithShape="1">
          <a:blip r:embed="rId3">
            <a:alphaModFix/>
          </a:blip>
          <a:srcRect b="34559" l="17216" r="17582" t="7763"/>
          <a:stretch/>
        </p:blipFill>
        <p:spPr>
          <a:xfrm>
            <a:off x="10982392" y="93620"/>
            <a:ext cx="1212396" cy="1075776"/>
          </a:xfrm>
          <a:prstGeom prst="rect">
            <a:avLst/>
          </a:prstGeom>
          <a:noFill/>
          <a:ln>
            <a:noFill/>
          </a:ln>
        </p:spPr>
      </p:pic>
      <p:sp>
        <p:nvSpPr>
          <p:cNvPr id="185" name="Google Shape;185;p7"/>
          <p:cNvSpP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it-IT" sz="1200">
                <a:solidFill>
                  <a:srgbClr val="888888"/>
                </a:solidFill>
                <a:latin typeface="Calibri"/>
                <a:ea typeface="Calibri"/>
                <a:cs typeface="Calibri"/>
                <a:sym typeface="Calibri"/>
              </a:rPr>
              <a:t>francesco.gammaraccio@unito.it</a:t>
            </a:r>
            <a:endParaRPr sz="1200">
              <a:solidFill>
                <a:srgbClr val="888888"/>
              </a:solidFill>
              <a:latin typeface="Calibri"/>
              <a:ea typeface="Calibri"/>
              <a:cs typeface="Calibri"/>
              <a:sym typeface="Calibri"/>
            </a:endParaRPr>
          </a:p>
        </p:txBody>
      </p:sp>
      <p:sp>
        <p:nvSpPr>
          <p:cNvPr id="186" name="Google Shape;186;p7"/>
          <p:cNvSpPr txBox="1"/>
          <p:nvPr/>
        </p:nvSpPr>
        <p:spPr>
          <a:xfrm flipH="1" rot="10800000">
            <a:off x="1606627" y="9910897"/>
            <a:ext cx="1303664" cy="58909"/>
          </a:xfrm>
          <a:prstGeom prst="rect">
            <a:avLst/>
          </a:prstGeom>
          <a:noFill/>
          <a:ln>
            <a:noFill/>
          </a:ln>
        </p:spPr>
        <p:txBody>
          <a:bodyPr anchorCtr="0" anchor="t" bIns="45700" lIns="91425" spcFirstLastPara="1" rIns="91425" wrap="square" tIns="45700">
            <a:normAutofit fontScale="25000" lnSpcReduction="20000"/>
          </a:bodyPr>
          <a:lstStyle/>
          <a:p>
            <a:pPr indent="0" lvl="0" marL="0" marR="0" rtl="0" algn="l">
              <a:spcBef>
                <a:spcPts val="0"/>
              </a:spcBef>
              <a:spcAft>
                <a:spcPts val="0"/>
              </a:spcAft>
              <a:buNone/>
            </a:pPr>
            <a:r>
              <a:rPr lang="it-IT" sz="1800">
                <a:solidFill>
                  <a:schemeClr val="dk1"/>
                </a:solidFill>
                <a:latin typeface="Calibri"/>
                <a:ea typeface="Calibri"/>
                <a:cs typeface="Calibri"/>
                <a:sym typeface="Calibri"/>
              </a:rPr>
              <a:t>ThePhoto di PhotoAuthor è concessa in licenza secondo CCYYSA.</a:t>
            </a:r>
            <a:endParaRPr/>
          </a:p>
        </p:txBody>
      </p:sp>
      <p:sp>
        <p:nvSpPr>
          <p:cNvPr id="187" name="Google Shape;187;p7"/>
          <p:cNvSpPr txBox="1"/>
          <p:nvPr/>
        </p:nvSpPr>
        <p:spPr>
          <a:xfrm>
            <a:off x="428047" y="1484820"/>
            <a:ext cx="10668000" cy="236693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it-IT" sz="1800">
                <a:solidFill>
                  <a:schemeClr val="dk1"/>
                </a:solidFill>
                <a:latin typeface="Calibri"/>
                <a:ea typeface="Calibri"/>
                <a:cs typeface="Calibri"/>
                <a:sym typeface="Calibri"/>
              </a:rPr>
              <a:t>The capability of XNAT to manage different imaging data structures has been expanded to manage longitudinal studies with multiple timepoints, treatment procedures involving control and treated groups, and drug administrations with varying doses by using Custom Forms.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just">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descr="Immagine che contiene testo, schermata, numero, Carattere&#10;&#10;Il contenuto generato dall&amp;#39;IA potrebbe non essere corretto." id="188" name="Google Shape;188;p7"/>
          <p:cNvPicPr preferRelativeResize="0"/>
          <p:nvPr/>
        </p:nvPicPr>
        <p:blipFill rotWithShape="1">
          <a:blip r:embed="rId4">
            <a:alphaModFix/>
          </a:blip>
          <a:srcRect b="0" l="0" r="0" t="0"/>
          <a:stretch/>
        </p:blipFill>
        <p:spPr>
          <a:xfrm>
            <a:off x="564906" y="2860431"/>
            <a:ext cx="10991850" cy="1981200"/>
          </a:xfrm>
          <a:prstGeom prst="rect">
            <a:avLst/>
          </a:prstGeom>
          <a:noFill/>
          <a:ln>
            <a:noFill/>
          </a:ln>
        </p:spPr>
      </p:pic>
      <p:sp>
        <p:nvSpPr>
          <p:cNvPr id="189" name="Google Shape;189;p7"/>
          <p:cNvSpPr/>
          <p:nvPr/>
        </p:nvSpPr>
        <p:spPr>
          <a:xfrm>
            <a:off x="7291755" y="3856892"/>
            <a:ext cx="3915508" cy="820616"/>
          </a:xfrm>
          <a:prstGeom prst="roundRect">
            <a:avLst>
              <a:gd fmla="val 16667" name="adj"/>
            </a:avLst>
          </a:prstGeom>
          <a:noFill/>
          <a:ln cap="flat" cmpd="sng" w="12700">
            <a:solidFill>
              <a:srgbClr val="233E6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2024-10-11T14:38:31Z</dcterms:created>
  <dc:creator>Annasofia</dc:creator>
</cp:coreProperties>
</file>