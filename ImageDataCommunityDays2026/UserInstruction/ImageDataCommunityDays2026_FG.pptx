
<file path=[Content_Types].xml><?xml version="1.0" encoding="utf-8"?>
<Types xmlns="http://schemas.openxmlformats.org/package/2006/content-types"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11" roundtripDataSignature="AMtx7mi0MTdh8Q7M5J2e3BSAmWrxM+mH9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customschemas.google.com/relationships/presentationmetadata" Target="metadata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" name="Google Shape;10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" name="Google Shape;12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" name="Google Shape;14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titolo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7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uota" type="blank">
  <p:cSld name="BLANK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olo e contenuto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stazione sezione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0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0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e contenuti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1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1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fronto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2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2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12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12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12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titolo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uto con didascalia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14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magine con didascalia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5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olo e testo verticale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olo e testo verticale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7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Relationship Id="rId4" Type="http://schemas.openxmlformats.org/officeDocument/2006/relationships/image" Target="../media/image2.png"/><Relationship Id="rId5" Type="http://schemas.openxmlformats.org/officeDocument/2006/relationships/image" Target="../media/image3.gif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Relationship Id="rId4" Type="http://schemas.openxmlformats.org/officeDocument/2006/relationships/image" Target="../media/image1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Relationship Id="rId4" Type="http://schemas.openxmlformats.org/officeDocument/2006/relationships/hyperlink" Target="https://github.com/cim-unito/XNAT-PIC" TargetMode="External"/><Relationship Id="rId5" Type="http://schemas.openxmlformats.org/officeDocument/2006/relationships/image" Target="../media/image1.png"/><Relationship Id="rId6" Type="http://schemas.openxmlformats.org/officeDocument/2006/relationships/image" Target="../media/image8.png"/><Relationship Id="rId7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Relationship Id="rId4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image" Target="../media/image6.png"/><Relationship Id="rId5" Type="http://schemas.openxmlformats.org/officeDocument/2006/relationships/hyperlink" Target="https://eubi-xnat.hpc4ai.unito.it/" TargetMode="External"/><Relationship Id="rId6" Type="http://schemas.openxmlformats.org/officeDocument/2006/relationships/image" Target="../media/image10.png"/><Relationship Id="rId7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9" name="Google Shape;89;p1"/>
          <p:cNvCxnSpPr/>
          <p:nvPr/>
        </p:nvCxnSpPr>
        <p:spPr>
          <a:xfrm flipH="1">
            <a:off x="329619" y="705529"/>
            <a:ext cx="7198232" cy="16185"/>
          </a:xfrm>
          <a:prstGeom prst="straightConnector1">
            <a:avLst/>
          </a:prstGeom>
          <a:noFill/>
          <a:ln cap="flat" cmpd="sng" w="28575">
            <a:solidFill>
              <a:srgbClr val="172946"/>
            </a:solidFill>
            <a:prstDash val="solid"/>
            <a:miter lim="800000"/>
            <a:headEnd len="sm" w="sm" type="none"/>
            <a:tailEnd len="med" w="med" type="none"/>
          </a:ln>
        </p:spPr>
      </p:cxnSp>
      <p:pic>
        <p:nvPicPr>
          <p:cNvPr descr="Outreach - Euro-BioImaging" id="90" name="Google Shape;90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16454" y="173023"/>
            <a:ext cx="2743198" cy="9573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ile:Consiglio Nazionale delle Ricerche logo verticale.png - Wikipedia" id="91" name="Google Shape;91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454171" y="5540163"/>
            <a:ext cx="1448720" cy="1024121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"/>
          <p:cNvSpPr txBox="1"/>
          <p:nvPr/>
        </p:nvSpPr>
        <p:spPr>
          <a:xfrm>
            <a:off x="1346523" y="1951585"/>
            <a:ext cx="9694370" cy="223125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12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2946"/>
              </a:buClr>
              <a:buSzPts val="4800"/>
              <a:buFont typeface="Calibri"/>
              <a:buNone/>
            </a:pPr>
            <a:r>
              <a:rPr b="1" i="0" lang="en-US" sz="4800" u="none" cap="none" strike="noStrike">
                <a:solidFill>
                  <a:srgbClr val="172946"/>
                </a:solidFill>
                <a:latin typeface="Calibri"/>
                <a:ea typeface="Calibri"/>
                <a:cs typeface="Calibri"/>
                <a:sym typeface="Calibri"/>
              </a:rPr>
              <a:t>XNAT-PIC: </a:t>
            </a:r>
            <a:endParaRPr b="1" i="0" sz="6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2946"/>
              </a:buClr>
              <a:buSzPts val="4800"/>
              <a:buFont typeface="Calibri"/>
              <a:buNone/>
            </a:pPr>
            <a:r>
              <a:rPr b="1" i="0" lang="en-US" sz="4800" u="none" cap="none" strike="noStrike">
                <a:solidFill>
                  <a:srgbClr val="172946"/>
                </a:solidFill>
                <a:latin typeface="Calibri"/>
                <a:ea typeface="Calibri"/>
                <a:cs typeface="Calibri"/>
                <a:sym typeface="Calibri"/>
              </a:rPr>
              <a:t>A Dedicated Tool for Annotating and Uploading Preclinical Images to XNAT</a:t>
            </a:r>
            <a:endParaRPr b="1" i="0" sz="6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7752781" y="4105917"/>
            <a:ext cx="3096239" cy="84382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12700">
            <a:sp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2946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172946"/>
                </a:solidFill>
                <a:latin typeface="Calibri"/>
                <a:ea typeface="Calibri"/>
                <a:cs typeface="Calibri"/>
                <a:sym typeface="Calibri"/>
              </a:rPr>
              <a:t>Francesco Gammaraccio</a:t>
            </a:r>
            <a:endParaRPr b="1" i="0" sz="2400" u="none" cap="none" strike="noStrike">
              <a:solidFill>
                <a:srgbClr val="17294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rgbClr val="17294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NR Institute of Biostructures and Bioimaging" id="94" name="Google Shape;94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02746" y="5718221"/>
            <a:ext cx="3577280" cy="6607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0" name="Google Shape;100;p2"/>
          <p:cNvCxnSpPr/>
          <p:nvPr/>
        </p:nvCxnSpPr>
        <p:spPr>
          <a:xfrm flipH="1">
            <a:off x="310164" y="744440"/>
            <a:ext cx="7198232" cy="16185"/>
          </a:xfrm>
          <a:prstGeom prst="straightConnector1">
            <a:avLst/>
          </a:prstGeom>
          <a:noFill/>
          <a:ln cap="flat" cmpd="sng" w="28575">
            <a:solidFill>
              <a:srgbClr val="172946"/>
            </a:solidFill>
            <a:prstDash val="solid"/>
            <a:miter lim="800000"/>
            <a:headEnd len="sm" w="sm" type="none"/>
            <a:tailEnd len="med" w="med" type="none"/>
          </a:ln>
        </p:spPr>
      </p:cxnSp>
      <p:sp>
        <p:nvSpPr>
          <p:cNvPr id="101" name="Google Shape;101;p2"/>
          <p:cNvSpPr txBox="1"/>
          <p:nvPr/>
        </p:nvSpPr>
        <p:spPr>
          <a:xfrm>
            <a:off x="310403" y="94032"/>
            <a:ext cx="7733831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172946"/>
                </a:solidFill>
                <a:latin typeface="Calibri"/>
                <a:ea typeface="Calibri"/>
                <a:cs typeface="Calibri"/>
                <a:sym typeface="Calibri"/>
              </a:rPr>
              <a:t>XNAT-PIC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ategory: Nodes - Euro-BioImaging" id="102" name="Google Shape;102;p2"/>
          <p:cNvPicPr preferRelativeResize="0"/>
          <p:nvPr/>
        </p:nvPicPr>
        <p:blipFill rotWithShape="1">
          <a:blip r:embed="rId3">
            <a:alphaModFix/>
          </a:blip>
          <a:srcRect b="34559" l="17216" r="17582" t="7763"/>
          <a:stretch/>
        </p:blipFill>
        <p:spPr>
          <a:xfrm>
            <a:off x="10982392" y="93620"/>
            <a:ext cx="1212396" cy="1075776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2"/>
          <p:cNvSpPr/>
          <p:nvPr/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francesco.gammaraccio@unito.it</a:t>
            </a:r>
            <a:endParaRPr b="0" sz="1200" u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2"/>
          <p:cNvSpPr/>
          <p:nvPr/>
        </p:nvSpPr>
        <p:spPr>
          <a:xfrm>
            <a:off x="313225" y="1175098"/>
            <a:ext cx="10418325" cy="1477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XNAT for Preclinical Imaging Centers (XNAT-PIC) is a free and open-source Windows desktop application designed to extend the core functionality of the XNAT platform to meet the needs of preclinical research. </a:t>
            </a:r>
            <a:endParaRPr b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application simplifies the annotation and uploading of image datasets to an XNAT-based archive system, with a focus on the unique requirements and structure of preclinical imaging studies.</a:t>
            </a:r>
            <a:endParaRPr b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>
              <a:solidFill>
                <a:srgbClr val="17294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magine che contiene testo, schermata, diagramma&#10;&#10;Il contenuto generato dall&amp;#39;IA potrebbe non essere corretto." id="105" name="Google Shape;105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98145" y="2414531"/>
            <a:ext cx="6628482" cy="37273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1" name="Google Shape;111;p3"/>
          <p:cNvCxnSpPr/>
          <p:nvPr/>
        </p:nvCxnSpPr>
        <p:spPr>
          <a:xfrm flipH="1">
            <a:off x="310196" y="744440"/>
            <a:ext cx="7198200" cy="16200"/>
          </a:xfrm>
          <a:prstGeom prst="straightConnector1">
            <a:avLst/>
          </a:prstGeom>
          <a:noFill/>
          <a:ln cap="flat" cmpd="sng" w="28575">
            <a:solidFill>
              <a:srgbClr val="172946"/>
            </a:solidFill>
            <a:prstDash val="solid"/>
            <a:miter lim="800000"/>
            <a:headEnd len="sm" w="sm" type="none"/>
            <a:tailEnd len="med" w="med" type="none"/>
          </a:ln>
        </p:spPr>
      </p:cxnSp>
      <p:sp>
        <p:nvSpPr>
          <p:cNvPr id="112" name="Google Shape;112;p3"/>
          <p:cNvSpPr txBox="1"/>
          <p:nvPr/>
        </p:nvSpPr>
        <p:spPr>
          <a:xfrm>
            <a:off x="310403" y="94032"/>
            <a:ext cx="7733700" cy="6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172946"/>
                </a:solidFill>
                <a:latin typeface="Calibri"/>
                <a:ea typeface="Calibri"/>
                <a:cs typeface="Calibri"/>
                <a:sym typeface="Calibri"/>
              </a:rPr>
              <a:t>Download XNAT-PIC</a:t>
            </a:r>
            <a:r>
              <a:rPr b="1" lang="en-US" sz="3600">
                <a:solidFill>
                  <a:srgbClr val="172946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3"/>
          <p:cNvSpPr/>
          <p:nvPr/>
        </p:nvSpPr>
        <p:spPr>
          <a:xfrm>
            <a:off x="9903568" y="1379204"/>
            <a:ext cx="301767" cy="337525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ategory: Nodes - Euro-BioImaging" id="114" name="Google Shape;114;p3"/>
          <p:cNvPicPr preferRelativeResize="0"/>
          <p:nvPr/>
        </p:nvPicPr>
        <p:blipFill rotWithShape="1">
          <a:blip r:embed="rId3">
            <a:alphaModFix/>
          </a:blip>
          <a:srcRect b="34560" l="17213" r="17585" t="7763"/>
          <a:stretch/>
        </p:blipFill>
        <p:spPr>
          <a:xfrm>
            <a:off x="10982392" y="93620"/>
            <a:ext cx="1212395" cy="1075777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3"/>
          <p:cNvSpPr/>
          <p:nvPr/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francesco.gammaraccio@unito.it</a:t>
            </a:r>
            <a:endParaRPr sz="12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3"/>
          <p:cNvSpPr/>
          <p:nvPr/>
        </p:nvSpPr>
        <p:spPr>
          <a:xfrm>
            <a:off x="313225" y="1846861"/>
            <a:ext cx="10418325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3"/>
          <p:cNvSpPr txBox="1"/>
          <p:nvPr/>
        </p:nvSpPr>
        <p:spPr>
          <a:xfrm>
            <a:off x="7323197" y="2849167"/>
            <a:ext cx="47097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GitHub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n-US" sz="18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https://github.com/cim-unito/XNAT-PIC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magine che contiene clipart, schizzo, Elementi grafici, simbolo&#10;&#10;Il contenuto generato dall&amp;#39;IA potrebbe non essere corretto." id="118" name="Google Shape;118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flipH="1">
            <a:off x="6643824" y="2825753"/>
            <a:ext cx="734460" cy="38651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3"/>
          <p:cNvSpPr txBox="1"/>
          <p:nvPr/>
        </p:nvSpPr>
        <p:spPr>
          <a:xfrm flipH="1" rot="10800000">
            <a:off x="1606627" y="9910897"/>
            <a:ext cx="1303664" cy="589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25000" lnSpcReduction="20000"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ThePhoto di PhotoAuthor è concessa in licenza secondo CCYYSA.</a:t>
            </a:r>
            <a:endParaRPr/>
          </a:p>
        </p:txBody>
      </p:sp>
      <p:pic>
        <p:nvPicPr>
          <p:cNvPr descr="Immagine che contiene testo, schermata, Carattere, numero&#10;&#10;Il contenuto generato dall&amp;#39;IA potrebbe non essere corretto." id="120" name="Google Shape;120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36104" y="992605"/>
            <a:ext cx="6005846" cy="5043237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3"/>
          <p:cNvSpPr/>
          <p:nvPr/>
        </p:nvSpPr>
        <p:spPr>
          <a:xfrm>
            <a:off x="260685" y="5113422"/>
            <a:ext cx="2697078" cy="1022683"/>
          </a:xfrm>
          <a:prstGeom prst="rect">
            <a:avLst/>
          </a:prstGeom>
          <a:noFill/>
          <a:ln cap="flat" cmpd="sng" w="12700">
            <a:solidFill>
              <a:srgbClr val="233E6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3"/>
          <p:cNvSpPr txBox="1"/>
          <p:nvPr/>
        </p:nvSpPr>
        <p:spPr>
          <a:xfrm>
            <a:off x="3044980" y="5393674"/>
            <a:ext cx="4627566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233E6B"/>
                </a:solidFill>
                <a:latin typeface="Calibri"/>
                <a:ea typeface="Calibri"/>
                <a:cs typeface="Calibri"/>
                <a:sym typeface="Calibri"/>
              </a:rPr>
              <a:t>XNAT-PIC</a:t>
            </a:r>
            <a:r>
              <a:rPr b="1" i="0" lang="en-US" sz="1800">
                <a:solidFill>
                  <a:srgbClr val="233E6B"/>
                </a:solidFill>
                <a:latin typeface="Calibri"/>
                <a:ea typeface="Calibri"/>
                <a:cs typeface="Calibri"/>
                <a:sym typeface="Calibri"/>
              </a:rPr>
              <a:t> v2.1-beta.1</a:t>
            </a:r>
            <a:endParaRPr sz="1800">
              <a:solidFill>
                <a:srgbClr val="233E6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magine che contiene cartone animato, illustrazione&#10;&#10;Il contenuto generato dall&amp;#39;IA potrebbe non essere corretto." id="123" name="Google Shape;123;p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868276" y="3353805"/>
            <a:ext cx="1173080" cy="12232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9" name="Google Shape;129;p4"/>
          <p:cNvCxnSpPr/>
          <p:nvPr/>
        </p:nvCxnSpPr>
        <p:spPr>
          <a:xfrm flipH="1">
            <a:off x="310164" y="744440"/>
            <a:ext cx="7198232" cy="16185"/>
          </a:xfrm>
          <a:prstGeom prst="straightConnector1">
            <a:avLst/>
          </a:prstGeom>
          <a:noFill/>
          <a:ln cap="flat" cmpd="sng" w="28575">
            <a:solidFill>
              <a:srgbClr val="172946"/>
            </a:solidFill>
            <a:prstDash val="solid"/>
            <a:miter lim="800000"/>
            <a:headEnd len="sm" w="sm" type="none"/>
            <a:tailEnd len="med" w="med" type="none"/>
          </a:ln>
        </p:spPr>
      </p:cxnSp>
      <p:sp>
        <p:nvSpPr>
          <p:cNvPr id="130" name="Google Shape;130;p4"/>
          <p:cNvSpPr txBox="1"/>
          <p:nvPr/>
        </p:nvSpPr>
        <p:spPr>
          <a:xfrm>
            <a:off x="310403" y="94032"/>
            <a:ext cx="7733831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172946"/>
                </a:solidFill>
                <a:latin typeface="Calibri"/>
                <a:ea typeface="Calibri"/>
                <a:cs typeface="Calibri"/>
                <a:sym typeface="Calibri"/>
              </a:rPr>
              <a:t>Folder Structure</a:t>
            </a:r>
            <a:r>
              <a:rPr b="1" lang="en-US" sz="3600">
                <a:solidFill>
                  <a:srgbClr val="172946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4"/>
          <p:cNvSpPr/>
          <p:nvPr/>
        </p:nvSpPr>
        <p:spPr>
          <a:xfrm>
            <a:off x="9903568" y="1379204"/>
            <a:ext cx="301767" cy="337525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ategory: Nodes - Euro-BioImaging" id="132" name="Google Shape;132;p4"/>
          <p:cNvPicPr preferRelativeResize="0"/>
          <p:nvPr/>
        </p:nvPicPr>
        <p:blipFill rotWithShape="1">
          <a:blip r:embed="rId3">
            <a:alphaModFix/>
          </a:blip>
          <a:srcRect b="34559" l="17216" r="17582" t="7763"/>
          <a:stretch/>
        </p:blipFill>
        <p:spPr>
          <a:xfrm>
            <a:off x="10982392" y="93620"/>
            <a:ext cx="1212396" cy="1075776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4"/>
          <p:cNvSpPr/>
          <p:nvPr/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francesco.gammaraccio@unito.it</a:t>
            </a:r>
            <a:endParaRPr sz="12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4"/>
          <p:cNvSpPr/>
          <p:nvPr/>
        </p:nvSpPr>
        <p:spPr>
          <a:xfrm>
            <a:off x="313225" y="1846861"/>
            <a:ext cx="10418325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4"/>
          <p:cNvSpPr txBox="1"/>
          <p:nvPr/>
        </p:nvSpPr>
        <p:spPr>
          <a:xfrm flipH="1" rot="10800000">
            <a:off x="1606627" y="9910897"/>
            <a:ext cx="1303664" cy="589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25000" lnSpcReduction="20000"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ThePhoto di PhotoAuthor è concessa in licenza secondo CCYYSA.</a:t>
            </a:r>
            <a:endParaRPr/>
          </a:p>
        </p:txBody>
      </p:sp>
      <p:sp>
        <p:nvSpPr>
          <p:cNvPr id="136" name="Google Shape;136;p4"/>
          <p:cNvSpPr txBox="1"/>
          <p:nvPr/>
        </p:nvSpPr>
        <p:spPr>
          <a:xfrm>
            <a:off x="192795" y="996108"/>
            <a:ext cx="10539466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C:\Users\Francesco\Desktop\Project1_BLEP\BLEP1\SR2-BLEP.rF1\1\MRIm1.dcm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magine che contiene testo, schermata, diagramma, design&#10;&#10;Il contenuto generato dall&amp;#39;IA potrebbe non essere corretto." id="137" name="Google Shape;137;p4"/>
          <p:cNvPicPr preferRelativeResize="0"/>
          <p:nvPr/>
        </p:nvPicPr>
        <p:blipFill rotWithShape="1">
          <a:blip r:embed="rId4">
            <a:alphaModFix/>
          </a:blip>
          <a:srcRect b="31995" l="0" r="26431" t="0"/>
          <a:stretch/>
        </p:blipFill>
        <p:spPr>
          <a:xfrm>
            <a:off x="2010577" y="2084024"/>
            <a:ext cx="7344582" cy="3782462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4"/>
          <p:cNvSpPr txBox="1"/>
          <p:nvPr/>
        </p:nvSpPr>
        <p:spPr>
          <a:xfrm>
            <a:off x="4177229" y="1546949"/>
            <a:ext cx="6812091" cy="6155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233E6B"/>
                </a:solidFill>
                <a:latin typeface="Calibri"/>
                <a:ea typeface="Calibri"/>
                <a:cs typeface="Calibri"/>
                <a:sym typeface="Calibri"/>
              </a:rPr>
              <a:t>     Project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       </a:t>
            </a:r>
            <a:r>
              <a:rPr lang="en-US" sz="1800">
                <a:solidFill>
                  <a:srgbClr val="3D3D3D"/>
                </a:solidFill>
                <a:latin typeface="Calibri"/>
                <a:ea typeface="Calibri"/>
                <a:cs typeface="Calibri"/>
                <a:sym typeface="Calibri"/>
              </a:rPr>
              <a:t>Subject         </a:t>
            </a:r>
            <a:r>
              <a:rPr lang="en-US" sz="1800">
                <a:solidFill>
                  <a:srgbClr val="233E6B"/>
                </a:solidFill>
                <a:latin typeface="Calibri"/>
                <a:ea typeface="Calibri"/>
                <a:cs typeface="Calibri"/>
                <a:sym typeface="Calibri"/>
              </a:rPr>
              <a:t>Experiment      </a:t>
            </a:r>
            <a:r>
              <a:rPr lang="en-US" sz="1800">
                <a:solidFill>
                  <a:srgbClr val="3D3D3D"/>
                </a:solidFill>
                <a:latin typeface="Calibri"/>
                <a:ea typeface="Calibri"/>
                <a:cs typeface="Calibri"/>
                <a:sym typeface="Calibri"/>
              </a:rPr>
              <a:t>Scan     </a:t>
            </a:r>
            <a:r>
              <a:rPr lang="en-US" sz="1800">
                <a:solidFill>
                  <a:srgbClr val="233E6B"/>
                </a:solidFill>
                <a:latin typeface="Calibri"/>
                <a:ea typeface="Calibri"/>
                <a:cs typeface="Calibri"/>
                <a:sym typeface="Calibri"/>
              </a:rPr>
              <a:t>DICOM Image</a:t>
            </a:r>
            <a:endParaRPr sz="1800">
              <a:solidFill>
                <a:srgbClr val="233E6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4"/>
          <p:cNvSpPr/>
          <p:nvPr/>
        </p:nvSpPr>
        <p:spPr>
          <a:xfrm>
            <a:off x="3912800" y="1021838"/>
            <a:ext cx="1774657" cy="421105"/>
          </a:xfrm>
          <a:prstGeom prst="rect">
            <a:avLst/>
          </a:prstGeom>
          <a:noFill/>
          <a:ln cap="flat" cmpd="sng" w="12700">
            <a:solidFill>
              <a:srgbClr val="233E6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4"/>
          <p:cNvSpPr/>
          <p:nvPr/>
        </p:nvSpPr>
        <p:spPr>
          <a:xfrm>
            <a:off x="5684679" y="1021838"/>
            <a:ext cx="920850" cy="421105"/>
          </a:xfrm>
          <a:prstGeom prst="rect">
            <a:avLst/>
          </a:prstGeom>
          <a:noFill/>
          <a:ln cap="flat" cmpd="sng" w="12700">
            <a:solidFill>
              <a:srgbClr val="3F3F3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4"/>
          <p:cNvSpPr/>
          <p:nvPr/>
        </p:nvSpPr>
        <p:spPr>
          <a:xfrm>
            <a:off x="6602751" y="1021837"/>
            <a:ext cx="1774657" cy="421105"/>
          </a:xfrm>
          <a:prstGeom prst="rect">
            <a:avLst/>
          </a:prstGeom>
          <a:noFill/>
          <a:ln cap="flat" cmpd="sng" w="12700">
            <a:solidFill>
              <a:srgbClr val="233E6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4"/>
          <p:cNvSpPr/>
          <p:nvPr/>
        </p:nvSpPr>
        <p:spPr>
          <a:xfrm>
            <a:off x="8374630" y="1021837"/>
            <a:ext cx="324103" cy="421105"/>
          </a:xfrm>
          <a:prstGeom prst="rect">
            <a:avLst/>
          </a:prstGeom>
          <a:noFill/>
          <a:ln cap="flat" cmpd="sng" w="12700">
            <a:solidFill>
              <a:srgbClr val="3F3F3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4"/>
          <p:cNvSpPr/>
          <p:nvPr/>
        </p:nvSpPr>
        <p:spPr>
          <a:xfrm>
            <a:off x="8695956" y="1021838"/>
            <a:ext cx="1774657" cy="421105"/>
          </a:xfrm>
          <a:prstGeom prst="rect">
            <a:avLst/>
          </a:prstGeom>
          <a:noFill/>
          <a:ln cap="flat" cmpd="sng" w="12700">
            <a:solidFill>
              <a:srgbClr val="233E6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9" name="Google Shape;149;p5"/>
          <p:cNvCxnSpPr/>
          <p:nvPr/>
        </p:nvCxnSpPr>
        <p:spPr>
          <a:xfrm flipH="1">
            <a:off x="310164" y="744440"/>
            <a:ext cx="7198232" cy="16185"/>
          </a:xfrm>
          <a:prstGeom prst="straightConnector1">
            <a:avLst/>
          </a:prstGeom>
          <a:noFill/>
          <a:ln cap="flat" cmpd="sng" w="28575">
            <a:solidFill>
              <a:srgbClr val="172946"/>
            </a:solidFill>
            <a:prstDash val="solid"/>
            <a:miter lim="800000"/>
            <a:headEnd len="sm" w="sm" type="none"/>
            <a:tailEnd len="med" w="med" type="none"/>
          </a:ln>
        </p:spPr>
      </p:cxnSp>
      <p:sp>
        <p:nvSpPr>
          <p:cNvPr id="150" name="Google Shape;150;p5"/>
          <p:cNvSpPr txBox="1"/>
          <p:nvPr/>
        </p:nvSpPr>
        <p:spPr>
          <a:xfrm>
            <a:off x="310403" y="94032"/>
            <a:ext cx="7733831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172946"/>
                </a:solidFill>
                <a:latin typeface="Calibri"/>
                <a:ea typeface="Calibri"/>
                <a:cs typeface="Calibri"/>
                <a:sym typeface="Calibri"/>
              </a:rPr>
              <a:t>XNAT Login</a:t>
            </a:r>
            <a:r>
              <a:rPr b="1" lang="en-US" sz="3600">
                <a:solidFill>
                  <a:srgbClr val="172946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5"/>
          <p:cNvSpPr/>
          <p:nvPr/>
        </p:nvSpPr>
        <p:spPr>
          <a:xfrm>
            <a:off x="9903568" y="1379204"/>
            <a:ext cx="301767" cy="337525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ategory: Nodes - Euro-BioImaging" id="152" name="Google Shape;152;p5"/>
          <p:cNvPicPr preferRelativeResize="0"/>
          <p:nvPr/>
        </p:nvPicPr>
        <p:blipFill rotWithShape="1">
          <a:blip r:embed="rId3">
            <a:alphaModFix/>
          </a:blip>
          <a:srcRect b="34559" l="17216" r="17582" t="7763"/>
          <a:stretch/>
        </p:blipFill>
        <p:spPr>
          <a:xfrm>
            <a:off x="10982392" y="93620"/>
            <a:ext cx="1212396" cy="1075776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5"/>
          <p:cNvSpPr/>
          <p:nvPr/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francesco.gammaraccio@unito.it</a:t>
            </a:r>
            <a:endParaRPr sz="12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5"/>
          <p:cNvSpPr txBox="1"/>
          <p:nvPr/>
        </p:nvSpPr>
        <p:spPr>
          <a:xfrm flipH="1" rot="10800000">
            <a:off x="1606627" y="9910897"/>
            <a:ext cx="1303664" cy="589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25000" lnSpcReduction="20000"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ThePhoto di PhotoAuthor è concessa in licenza secondo CCYYSA.</a:t>
            </a:r>
            <a:endParaRPr/>
          </a:p>
        </p:txBody>
      </p:sp>
      <p:sp>
        <p:nvSpPr>
          <p:cNvPr id="155" name="Google Shape;155;p5"/>
          <p:cNvSpPr txBox="1"/>
          <p:nvPr/>
        </p:nvSpPr>
        <p:spPr>
          <a:xfrm>
            <a:off x="310816" y="1062789"/>
            <a:ext cx="60960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 the credentials provided to log in to our XNAT instance.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magine che contiene testo, schermata, Carattere, numero&#10;&#10;Il contenuto generato dall&amp;#39;IA potrebbe non essere corretto." id="156" name="Google Shape;156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7449" y="2271462"/>
            <a:ext cx="4219575" cy="3257550"/>
          </a:xfrm>
          <a:prstGeom prst="rect">
            <a:avLst/>
          </a:prstGeom>
          <a:noFill/>
          <a:ln cap="flat" cmpd="sng" w="9525">
            <a:solidFill>
              <a:srgbClr val="233E6B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57" name="Google Shape;157;p5"/>
          <p:cNvSpPr txBox="1"/>
          <p:nvPr/>
        </p:nvSpPr>
        <p:spPr>
          <a:xfrm>
            <a:off x="1714500" y="1584157"/>
            <a:ext cx="6096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https://eubi-xnat.hpc4ai.unito.it/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magine che contiene testo, schermata, Carattere, numero&#10;&#10;Il contenuto generato dall&amp;#39;IA potrebbe non essere corretto." id="158" name="Google Shape;158;p5"/>
          <p:cNvPicPr preferRelativeResize="0"/>
          <p:nvPr/>
        </p:nvPicPr>
        <p:blipFill rotWithShape="1">
          <a:blip r:embed="rId6">
            <a:alphaModFix/>
          </a:blip>
          <a:srcRect b="-310" l="0" r="40633" t="74"/>
          <a:stretch/>
        </p:blipFill>
        <p:spPr>
          <a:xfrm>
            <a:off x="5245767" y="1467225"/>
            <a:ext cx="5808810" cy="40863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magine che contiene Elementi grafici, grafica, design&#10;&#10;Il contenuto generato dall&amp;#39;IA potrebbe non essere corretto." id="159" name="Google Shape;159;p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71236" y="1471045"/>
            <a:ext cx="1243264" cy="4869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i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i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2024-10-11T14:38:31Z</dcterms:created>
  <dc:creator>Annasofia</dc:creator>
</cp:coreProperties>
</file>